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2191695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 tardes. Mi trabajo se titula Deteccion automatica de eventos adversos hospitalarios en notas clinicas mediante PLN. Trabajo final del curso MIA-10 con el Dr. Wester Zela. Cuatro cifras que resumen lo que van a ver: 70,000 notas clinicas de modelado, casi 34 horas de computo medido, 7 modelos comparados, y un AUC final de 0.843 — parte de la historia es por que ese numero es MENOR que uno que obtuve antes, y por que eso es una mejora. (30 segundos, no mas.)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estaciones: contexto, planteamiento del problema, antecedentes, y la parte central — la solucion — con datos, preprocesamiento, modelamiento, COMO SE EJECUTO EL CODIGO con sus costos reales, y resultados. Cierro con conclusiones, recomendaciones y referencias. (Subrayar con la voz 'como se ejecuto el codigo': es lo que pidio el docente.)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concepto primero: un evento adverso es un dano NO intencional causado por la atencion de salud, no por la enfermedad. Ejemplo: una neumonia puede ser el motivo de ingreso (no es evento) o adquirida por el ventilador durante la estancia (si lo es). Esa distincion es dificil hasta para un humano y persigue todo el trabajo. La vara de medir es normativa: el Anexo 02 de la Directiva GG-ESSALUD-2021, con 231 eventos en 12 naturalezas. No invente categorias: uso las oficiales.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notificacion es manual y voluntaria; el subregistro estimado es cercano al 72%: de cada 10 eventos, 7 nunca llegan a calidad. La paradoja que motiva el trabajo: la informacion SI existe — el medico que atendio la complicacion la escribio en la nota clinica. Lo que no existe es la capacidad humana de leer el 100% de las notas. Pregunta de investigacion: puede un sistema de PLN leerlas y detectar los eventos con fiabilidad comparable al juicio experto? (Hablar desde la experiencia de gestion: es mi terreno.)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objetivos especificos, todos cumplidos: corpus por supervision debil (70,000 notas); comparacion clasico vs transformers (7 modelos); priorizacion institucional; validacion experta (163 casos con juicio experto); y transferencia al espanol (hecha, con datos peruanos reales). Transparencia: la hipotesis central — que el transformer superaria al modelo lexico — SE REFUTO. Un resultado negativo bien medido es un resultado: mas adelante muestro por que perdio y cuanto costo comprobarlo. Si preguntan si es un fracaso: lo seria no poder explicar por que fallo; medi la causa (la ventana de contexto) y eso define la linea de mejora.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cuerpos de literatura: (1) Supervision debil — paradigma Snorkel de Stanford: etiquetar con reglas programaticas acepta ruido a cambio de escala; la validez de las reglas HAY que auditarla — corazon de mi trabajo. (2) Aprendizaje por atajo — Geirhos 2020: el modelo resuelve por la via estadisticamente barata, no la correcta. Caso Zech 2018: detector de neumonia con AUC altisimo que reconocia DE QUE HOSPITAL venia la radiografia. Retengan ese caso: me paso lo mismo y lo voy a mostrar. (3) Ventana de contexto: Clinical-Longformer supera a ClinicalBERT al ampliar la ventana — justo lo que mis datos confirman por otra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comparar hay que decidir que modelos son ADMISIBLES: filtros duros documentados. El F4 es el que casi nadie aplica: PhysioNet prohibe expresamente enviar texto de MIMIC a APIs de terceros (ChatGPT incluido) — condicion legal firmada, no preferencia. Eso descarta los LLM comerciales de entrada. F3: un LLM local de 7B no cabe en el hardware de despliegue. Dato verificable: el Open LLM Leaderboard esta ARCHIVADO por sus propios autores; citarlo hoy seria un error comprobable. Use el ranking pertinente: clasificacion, no generacion. La tarea determina la metrica y la metrica el ranking — no al reves.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diagrama es el mapa de todo; recorrerlo banda por banda con el puntero (90 seg). BANDA 1 — corpus: 331,793 notas de MIMIC-IV mas sus codigos; supervision debil con dos vias: Tier A cruza codigos CIE contra el Anexo 02, Tier B busca 35 patrones de texto con filtro de negacion NegEx. La caja amarilla: la auditoria que corrigio 7 modos de fallo. Sale el corpus de 70,000 notas, prevalencia real 20.12%. BANDA 2 — modelado: TF-IDF palabra+caracter, particion POR PACIENTE; dos etapas (detectar con abstencion, clasificar naturaleza); evaluacion honesta: cascada extremo a extremo y juicio experto en 163 casos. BANDA 3 — transferencia: 8,799 reportes peruanos reales con etiqueta de oro; destino: matriz de priorizacion institucional. Cerrar: 'todo lo que sigue es entrar a cada caja de este mapa'.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caja del diagrama tiene su script con nombre y apellido; todo el codigo es publico en github.com/carlosperez100/PLN_SP. Lo que NUNCA se versiona es el dato clinico (texto, modelos entrenados sobre texto): DUA de PhysioNet y proteccion de datos. La bitacora guarda comando y salida de consola de cada corrida. NO leer la tabla — queda para preguntas. (15 segundos y avanzar.)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MIMIC-IV-Note: 331,793 resumenes de alta reales del Beth Israel Deaconess de Boston, 2008-2019, acceso credencializado (curso CITI + DUA). Texto clinico real con toda su suciedad. El corpus de modelado quedo en 70,000 notas: el techo lo puso la RAM al vectorizar n-gramas de caracter, y esta declarado. Numero clave de la lamina: prevalencia poblacional real 20.12% (109,775 hospitalizaciones con evento sobre 545,601). Retenerlo: decide el VPP operativo. Si preguntan por que datos americanos: no existe corpus peruano de notas con eventos etiquetados y acceso autorizado; MIMIC es el estandar mundial para desarrollar el metodo legalmente — y la validacion en espanol viene en dos laminas.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otra mitad, y es peruana: 8,799 ocurrencias REALES del sistema institucional de reporte, en espanol, codificadas UNA A UNA por profesionales contra los Anexos 02 y 03. Eso es estandar de ORO (juicio humano); MIMIC es plata (codigos administrativos). Preprocesamiento: anonimizacion de identificadores en el texto libre, descarte de textos demasiado breves y 2,463 duplicados eliminados — sin deduplicar, el mismo texto caia en entrenamiento y prueba y las metricas salian infladas. Quedan 6,336 casos. Advertencia de comparabilidad (decirla ANTES de que la pregunten): el reporte describe un evento que quien escribio YA identifico; en la nota clinica hay que ENCONTRARLO. Problemas distintos; el del reporte es mas facil por construccion. No entrar en longitudes de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dos correcciones con efecto medido. BUG DEL PUNTO: el mapeo guardaba A04.7 (como la norma) y MIMIC guarda A047. El cruce fallaba en silencio: 411 hospitalizaciones. Corregido y cruzando por prefijo (respeta la jerarquia CIE-10): 109,714 — factor 267x. 'El Tier A nunca fallo conceptualmente; fallo por un punto.' BUG DEL COMODIN: el patron podia atravesar la nota entera — 'hemocultivo positivo' en la pagina 1 se unia con 'cateter' en la pagina 8: dos hechos verdaderos por separado, una conclusion falsa. Acotado a 100 caracteres (mismo parrafo): cae el 63.7% de detecciones, todas espurias. Elegancia del cuadro: una correccion SUBE la cifra y la otra la BAJA — ambas hacia la verdad: el Tier A estaba ciego, el Tier B alucinaba. Verificacion del diagnostico: los patrones SIN comodin quedaron identicos (13,189 -&gt; 13,189, cero variacion); solo cayeron los que tenian .* — el defecto era el ALCANCE, no la especificidad.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convierte el texto en numeros: TF-IDF con dos vistas. Palabra (1-2 gramas): capta conceptos como 'wound infection'. Caracter (3-5 letras): 'infec' captura infection/infected/infeccion — sobrevive a abreviaturas y errores del texto clinico. La logica TF-IDF: pesa mas lo frecuente en ESTA nota pero raro en el corpus — la intuicion del lector experto: 'reintubacion' informa, 'paciente' no. (Autores si preguntan: IDF de Karen Sparck Jones 1972; SVM de Vapnik/Cortes 1995; uso scikit-learn.) Y la decision de protocolo mas importante: PARTICION POR PACIENTE con GroupShuffleSplit y asercion de no solape — un mismo paciente aporta varias notas con vocabulario compartido; particionar por nota inflaria las metricas. El vectorizador se ajusta SOLO en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preguntas en serie. Etapa 1: hay evento adverso? — binaria, entrenada con 33,564 notas SIN evento (la clase negativa). Etapa 2: de que naturaleza? — 8 clases del Anexo 02. La clase negativa es lo que convierte un clasificador en un DETECTOR: le da el derecho a decir 'aqui no hay nada'. La consola es la prueba: seis textos triviales (un punto, 'ok', 'paciente estable'), seis abstenciones con margen negativo. Antes de esto, disparaba hasta ante un punto. Y la cascada es la honestidad: evaluar la Etapa 2 sobre positivos garantizados asume un detector perfecto; la cifra real es la de las dos etapas encadenadas — la muestro en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que responde lo que pidio el docente. Comandos reales: entorno virtual AISLADO (para no comprometer el interprete del sistema) con PyTorch para CUDA. Hardware: laptop HP Victus, GTX 1650 de 4 GB — hardware de estudiante, deliberado: el DUA exige procesamiento local y demuestra transferibilidad a cualquier hospital. La tabla es la factura medida de los logs: ablacion del corpus completo casi 18 horas; cada fine-tuning de transformer 3-4 horas; los cuatro TF-IDF, 1 minuto 46 segundos. Total registrado: 33 h 54 min. El contraste que importa (tarjeta granate): transformers 9 h 47 min para F1 0.354; TF-IDF 1 min 46 s para 0.459. TRESCIENTAS TREINTA Y TRES veces mas computo, para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Salidas LITERALES de los logs, no reconstruidas. La historia: la corrida grande murio al 78.4% tras 17 horas — ahi esta el mensaje del checkpoint — y se reanudo completando el resto en 32 minutos. Ejecutar un pipeline real es disenar para el fallo. Abajo, la verificacion del comodin: CON .* caen 84%; SIN comodin, cero variacion — la prueba de que el diagnostico era correcto. Cada experimento tiene comando, log y duracion en la bitacora publica. Ofrecer aqui: 'tengo el notebook abierto, puedo ejecutarlo en vivo'.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momento Zech anunciado. Version intermedia: AUC 0.973. Espectacular, publicable... y FALSO. Causa: el mapeo solo tenia CIE-10; EE.UU. adopto CIE-10 en 2015 y MIMIC va de 2008 a 2019 — toda hospitalizacion anterior quedaba negativa POR CONSTRUCCION. El modelo no aprendio eventos adversos: aprendio a distinguir la PLANTILLA documental de cada epoca. Prueba forense: su rasgo de mayor peso era 'rdwsd', un encabezado de laboratorio sin contenido clinico. Correccion: mapeo extendido a CIE-9 con equivalencias verificadas y emparejamiento por epoca A NIVEL DE NOTA — control exacto: 28.92% de era CIE-10 en positivos y en negativos, diferencia cero. Tras corregir, los rasgos importantes son clinicos: caida, revision, rechazo, reestenosis. AUC honesto: 0.843. Leccion: un AUC de 0.973 puede sostenerse entero en una senal espuria — la pregunta no es cuanto acierta el modelo, sino POR QUE acierta.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Detector final: sensibilidad 0.762, especificidad 0.770, AUC 0.843 — intervalos por bootstrap AGRUPADO POR PACIENTE (remuestrear notas sueltas viola la independencia y estrecha artificialmente los intervalos). El numero operativo: el VPP del test es 0.793, pero el test esta balanceado; reajustado por Bayes a la prevalencia real del 20.12%: VPP OPERATIVO 0.455. Significado: de cada 100 alertas, 45 son eventos reales — frente a 20 que encuentra la revision al azar. Multiplica por 2.26 la eficiencia del revisor capturando el 76% de los eventos. Rol declarado: FILTRO DE CRIBADO, no arbitro — no decide, prioriza. Reportar 0.455 y no 0.793 es honestidad: es la cifra con la que un servicio de calidad planifica su carga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modelos, misma particion, misma semilla: comparables. Gana TF-IDF + LinearSVC con texto completo: F1-macro 0.459 en 48 segundos. El mejor transformer (ClinicalBERT ponderado): 0.354 en 4 horas de GPU. La fila MAS importante es la CUARTA: el mismo modelo campeon amputado al texto que ve BERT cae a 0.330 (-28%) con la misma arquitectura — eso AISLA la variable: el transformer no pierde por arquitectura, pierde porque su ventana de 256 tokens cubre el 9% del documento (mediana 3,148 tokens). Es pedir diagnostico a quien leyo la primera pagina de la historia. Y BioBERT (papers cientificos) queda ultimo: el lenguaje de los articulos no es el de las notas reales. Conclusion: ver todo el texto vale mas que entender mejor un fragmento; la mejora es ventana larga (Clinical-Longformer), no mas preentrenamiento.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evaluaciones que casi nadie hace. CASCADA: Etapa 2 aislada da F1-micro 0.75; encadenada tras el detector real, 0.49 — menos 34.5%. Reportar solo la aislada sobreestimaria un tercio; reporto ambas. JUICIO EXPERTO: 163 casos anotados con protocolo ciego (interfaz oculta el veredicto del sistema, orden aleatorio, tiempo cronometrado), 78 por duplicado con un segundo evaluador independiente. Contra el consenso: sensibilidad 0.945. Analisis ampliado con todos los casos: 0.914 con intervalo a la mitad. La especificidad contra experto es 0.54, coherente con cribado. Y el dato que cierra el circulo: el 25% de los casos que la codificacion declaraba negativos son eventos REALES para el experto — el subregistro, medido con mis propios datos. Si preguntan por que la especificidad solo sobre el consenso: el piloto se muestreo por estratos definidos por la salida del sistema; leerla del total seria sesgo de verificacion.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no es promesa: cuatro tareas medidas sobre 6,336 casos peruanos con etiqueta de oro, prediccion fuera de pliegue (cada caso predicho por un modelo que nunca lo vio). Evento adverso vs incidente — la distincion central de la norma: 86% de exactitud. Naturaleza del Anexo 02: 85%. Severidad del Anexo 03: 73%. Y por primera vez el CODIGO ESPECIFICO de evento (41 clases modelables): 76%. Ademas: los 8,799 casos estan en un Excel con codigo humano, prediccion y acierto/error marcado — revisable caso por caso. Hallazgo institucional: 'Gestion de la organizacion' era inviable en MIMIC (24 casos, F1 cero) y aqui alcanza F1 0.85 con 1,400 ejemplos — el corpus peruano rescata clases que el ingles no cubre.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lamina responde directamente al pedido del docente: comparar mis metricas con las de los autores. Empiezo con la advertencia (esta en la bajada): los estandares difieren — se declara y se compara igual. Murff 2011 en JAMA: el PLN alcanza sensibilidades de 59 a 91% por complicacion, contra 5 a 46% de los indicadores por codigos — mi trabajo esta en el mismo regimen: 0.762 contra codigos, 0.945 contra experto. Classen 2011: eventos en el 33% de las admisiones y la notificacion voluntaria pierde el 90% — yo lo medi con datos propios: 25% de los negativos eran reales. Zech 2018: AUC 0.931 que cae a 0.815 fuera del hospital, la red identificaba el hospital en 99.9% — mi paralelo exacto: 0.973 espurio a 0.843 controlado. Y Li 2022: la ventana larga supera a ClinicalBERT — coherente con mi -28% al truncar. Cierre: 'la literatura reporta estos tres fenomenos por separado; este trabajo los replica y los CONTROLA con datos propios'.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Ultima caja del diagrama; breve porque excede el alcance de PLN del curso. Lo detectado alimenta la matriz de priorizacion institucional — la vigente en EsSalud — que combina frecuencia e impacto y asigna banda (Verde/Amarillo/Rojo) y RESPONSABLE: servicio, departamento o direccion segun la banda. Es la diferencia entre un modelo que clasifica y un sistema que gestiona. (30-40 segundos maximo.)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de VENTA que pidio el docente. 'Mi aporte no es un algoritmo nuevo — es triple.' METODOLOGICO: un protocolo de auditoria de validez para supervision debil en texto clinico — siete modos de fallo identificados, medidos y corregidos; el confusor de epoca como caso ejemplar. EMPIRICO: el aislamiento experimental de la ventana de contexto como el factor que decide esta tarea — mismo algoritmo, mismos datos, -28% al truncar; eso define la via de mejora correcta. APLICADO: el primer acople documentado de PLN con la taxonomia normativa peruana — Anexos 02 y 03 — validado con etiqueta de oro en espanol. Remate: 'la literatura reporta metricas; este trabajo reporta metricas AUDITADAS — y las lleva por primera vez a la norma y al idioma de nuestro sistema de salud'.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numero UNO, que responde al problema original — es lo que el docente pidio explicitamente: '¿Resuelve el problema? La capa tecnica si: el sistema encuentra lo que nadie notifico — 25% de los negativos por codigo eran reales — y multiplica por 2.26 la eficiencia del revisor. La capa institucional queda LISTA: el piloto tiene sus parametros calculados.' Luego destacar dos mas: el modelo lexico supero al transformer con la causa MEDIDA (ventana de contexto, no arquitectura; la mejora es secuencia larga), y la AUDITORIA de validez como aporte central — siete modos de fallo, con el confusor de epoca como caso ejemplar; sin ella, las metricas habrian medido los defectos del corpus, no los eventos. Las demas estan escritas: cascada, espanol, destino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Decirlas con calma: SUMAN credibilidad. Las metricas sobre MIMIC miden acuerdo con codigos (estandar de plata), no verdad clinica — por eso existe la validacion experta. Esa validacion esta restringida a eventos de infeccion. El conjunto de prueba se reutilizo entre iteraciones — sesgo optimista no cuantificado, declarado; el umbral no se ajusto como mitigacion. Y el autor participo como anotador — mitigado con interfaz ciega, orden aleatorio, cronometraje y segundo evaluador independiente. Ninguna limitacion es oculta; todas tienen mitigacion documentada.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lineas, cada una anclada en un hallazgo. (1) Clinical-Longformer — ventana de 4,096 tokens: mi experimento demostro que el cuello de botella es el contexto; es una prediccion verificable. (2) Cuando exista acceso institucional: entrenar sobre notas clinicas peruanas con un encoder en espanol — el ERSP ya demostro que la taxonomia es aprendible en nuestro idioma. (3) Piloto institucional del cribado, con el VPP 0.455 como parametro de planificacion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fuentes en el articulo. Destacar solo: MIMIC-IV/PhysioNet, Ratner (Snorkel), Geirhos (shortcut learning), Zech (el caso clinico), Li 2022 (Clinical-Longformer) y la Directiva de EsSalud con los Anexos 02 y 03. JAMAS leerlas. (10 segundos.)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que resume el trabajo: empece con un AUC de 0.973 y termine con 0.843 — y ese descenso es la mayor contribucion, porque el primero media un atajo y el segundo mide el fenomeno. En deteccion de eventos adversos, donde cada falso negativo es un dano invisible para la gestion, el aporte no es una metrica alta: es una metrica en la que se puede CONFIAR. El codigo es publico, la bitacora es auditable y el sistema ya habla espanol.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8B768-6A59-421E-A96D-28251705A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ECDCA5-73B2-41A5-80B1-D9FF62E26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B00EB7-5DB7-4CD4-B6D7-A1CABA93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631B4C-7DC2-4A92-9440-8A70C6DC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8ECF5F-A367-486F-9E77-59F8CF903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10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8EF0B6-7BE0-4BD9-BFDA-E88D592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0EC75E-CA75-42D4-99E8-2DC0AF3DE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FC981E-E68C-438D-B221-FAEA0EC7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020CC-B3CB-44D4-917C-FB4FAF417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275A4F-AE2E-412E-AC66-22576937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648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09A15-A394-46D0-A2F2-F7EC73E6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AAC3355-412D-42C7-AFD4-EBB8828FE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550613-8A1B-4978-A5DA-E4010FED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EC0465-87C5-4931-B8ED-1D36BF72C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87F6A4-2AAB-40F2-A3E9-0280ACCDB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244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BF3B-CBD6-431B-B37A-2B65E726D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D76FF-3D27-4172-B1ED-A48DAB888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8C92D0-6D67-4F36-8C2C-2901EFA9D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122A71-EE80-4FDC-ACB9-ECF247E3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7997BDB-94EB-4097-A6AA-CB30ADA4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34A2C0-EE24-4BB9-9DF0-F1CC1278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8453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203AA-3B7E-4A0D-97F1-3314052C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B57817B-8C85-4FD9-A254-9F47D173F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6D711A-50C3-48D5-A795-886F97560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D8FC29-FA84-476D-9C7C-55AF0D807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48625CC-B703-422B-8CE2-E06DDA40F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D7BE4DA-EE2E-46E6-BA3D-998B84230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C503806-D8C0-4C89-B056-CACF4522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35D3E71-1E27-4A89-B889-7386510BE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4190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55F42C-BF1C-4591-9173-9F0BFB9C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E4E7EA3-E3B1-4EDE-958A-83950ABCA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028D18-A74A-4B70-84BD-444560858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EB9E9-24E0-41EE-AE4B-C7650A8F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430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3FE7901-A88E-4F4F-85E5-C826F778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CE7379E-5CC1-466C-AB34-63C2B907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C2A281-6EE7-4910-B1E9-3E8ED937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240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95856-4C8F-4F61-89B9-41FBC3B1C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FD77DC6-1EC8-4036-95AD-E7C07674E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1FE2B9-83F5-497F-8FB1-D162A4EE8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980770-0159-432A-B29D-05C73635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581D1E-DE3B-4DB5-ACD9-401F77B3C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CC4CE1-9C4E-46FC-A538-0CB9CF67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45467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FC35BC-F291-4407-BB33-50EE0981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A4E7640-14B2-4441-BBD3-10D6878AA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3F1AEB0-0A6E-4907-B24D-4595386C8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EBA416-E4F2-443F-A375-3D59F868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321DFC-3B38-4490-91C2-2DD73858D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C670CC-8104-40E6-8B04-2D6C3C2CF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03098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DD0ADD-89D3-49D4-99E8-02221D3C8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1EF01C-A05A-4739-8017-72EB877567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62502F-421D-480A-B15B-0A5EC5BE3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29797D-4F58-4B31-B2D1-39E72635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6847E3-C2B8-4A63-B456-0721F6B5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675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822DEA2-05A9-457E-9F25-5FBACC27D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2D8FB33-BAEF-4F5B-8530-77A68DF93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C2326-D44D-4B4A-AC12-E59643D63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0C57A73-72ED-44B7-BCC6-27B0899B3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E2C254-5F7A-4C3E-8631-2F19DD4A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8970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73FA9C-274A-4124-8ED9-0B6E0F50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52BA7-71AD-496E-9EBF-9D4DBBB1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ED91D2-FC78-4B4D-9EF5-D1FEC8728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2EA436-DFF4-40B0-B5F3-AC4340307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6FD509-100D-4615-93D0-D824AEFDA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5964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C8CC"/>
                </a:solidFill>
                <a:latin typeface="Calibri"/>
              </a:rPr>
              <a:t>UNIVERSIDAD NACIONAL DE INGENIERÍA · MAESTRÍA EN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Detección automática de eventos adversos
hospitalarios en notas clínicas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420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E5F7F"/>
                </a:solidFill>
                <a:latin typeface="Calibri"/>
              </a:rPr>
              <a:t>Un canal de Procesamiento de Lenguaje Natural sobre MIMIC-IV, auditado y validado contra juicio experto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08960"/>
            <a:ext cx="4937760" cy="254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1012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3101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MIA-10 · Procesamiento del Lenguaje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Docente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3730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Dr. Wester Zela Moraya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5137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Autor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415137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Carlos Pérez Pérez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457200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1F2428"/>
                </a:solidFill>
                <a:latin typeface="Calibri"/>
              </a:rPr>
              <a:t>9 de agosto de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00400"/>
            <a:ext cx="4663440" cy="292608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3200400"/>
            <a:ext cx="46634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40156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TRABAJO EN CUATRO CIFRAS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76732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8313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procesadas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1596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33 h 54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37997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cómputo registrado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8646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2861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modelos comparados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41324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0.843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547725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AUC del detector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E5F7F"/>
                </a:solidFill>
                <a:latin typeface="Calibri"/>
              </a:rPr>
              <a:t>github.com/carlosperez100/PLN_SP   ·   carlosperez100.github.io/PLN_SP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Introducción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Seguridad del paciente y la norma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subregistro del 72 %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Antecedentes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Estado del arte y selección del modelo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98848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6285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498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800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Datos · Preprocesamiento · Modelamiento · Ejecución · Resultados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Conclusiones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Qué se confirmó y qué se refutó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Recomendaciones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Hacia dónde sigue el trabajo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Referencias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34 fuentes citadas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punto 4 concentra el 60 % de la exposición e incluye la ejecución real del código: comandos, salidas de consola y el cuaderno corriendo en vivo.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1 · INTRODUCCIÓN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Un daño causado por la atención, no por la enfermedad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7452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64792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Definición.  </a:t>
            </a:r>
            <a:r>
              <a:rPr sz="1500">
                <a:solidFill>
                  <a:srgbClr val="5A6268"/>
                </a:solidFill>
                <a:latin typeface="Calibri"/>
              </a:rPr>
              <a:t>Daño no intencional derivado de la atención sanitaria, no del curso natural de la enfermedad del paciente.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30098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91256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Magnitud.  </a:t>
            </a:r>
            <a:r>
              <a:rPr sz="1500">
                <a:solidFill>
                  <a:srgbClr val="5A6268"/>
                </a:solidFill>
                <a:latin typeface="Calibri"/>
              </a:rPr>
              <a:t>Están entre las 10 primeras causas de muerte y discapacidad en el mundo (OMS).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0142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3904488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En el Perú.  </a:t>
            </a:r>
            <a:r>
              <a:rPr sz="1500">
                <a:solidFill>
                  <a:srgbClr val="5A6268"/>
                </a:solidFill>
                <a:latin typeface="Calibri"/>
              </a:rPr>
              <a:t>La Directiva GG-ESSALUD-2021 los regula y define su notificación obligatoria.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92224"/>
            <a:ext cx="5120640" cy="32004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79222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99339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ANEXO 02 · LA TAXONOMÍA QUE SE AUTOMATIZA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14016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5054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eventos adversos tipificados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72384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16382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naturalezas que los agrupan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30752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82219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niveles de severidad (Anexo 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2920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1206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tarea de este trabajo: leer el texto libre de una nota clínica y decidir si contiene un evento adverso y de qué naturaleza es, según esa taxonomía.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 información existe, pero nadie la lee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~72 %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los eventos adversos no se notifican en EsSalud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unos 37,000 al año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7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7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las notas clínicas contienen esa información en texto libre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1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no explotable a mano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6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6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0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0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notificación depende de que alguien decida reportar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0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y voluntaria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621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428"/>
                </a:solidFill>
                <a:latin typeface="Calibri"/>
              </a:rPr>
              <a:t>Por qué falla el registro manual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005072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Subnotificación por temor a la sanción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389120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Saturación del personal: el evento se registra pero no se analiza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773168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Priorización heterogénea entre servicios y lenta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4005072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texto clínico es largo (mediana 3,148 tokens)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438912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evento no está señalado: hay que encontrarlo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4773168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Sin denominador no se puede priorizar por riesgo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48640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778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Pregunta de investigación:  ¿es posible detectar automáticamente, desde el texto libre del resumen de alta, los eventos adversos ocurridos durante la hospitalización, y clasificarlos según la taxonomía normativa, con fiabilidad comparable a la del juicio experto?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Objetivos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Objetivo general — diseñar, implementar y validar un canal de PLN que detecte y priorice eventos adversos automáticamente, con miras a su transferencia a EsSalud.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780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51176"/>
            <a:ext cx="64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551176"/>
            <a:ext cx="584321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Objetivo específico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3649" y="2551176"/>
            <a:ext cx="41845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Estado al día de hoy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98648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2416" y="2898648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Construir un corpus etiquetado por supervisión débil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649" y="2898648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70,000 notas clínicas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64408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319272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Comparar transformers biomédicos con modelos clásicos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3649" y="3319272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 modelos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39896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2416" y="3739896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Automatizar la matriz de priorización GEMSES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3649" y="3739896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Implementado · fuera del alcance de PLN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05656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160520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60520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Contrastar el sistema contra evaluadores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3649" y="4160520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163 casos con juicio experto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581144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416" y="4581144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Documentar la transferencia al español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3649" y="4581144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6,336 casos ERSP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478024"/>
            <a:ext cx="11057839" cy="24688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44068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44068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53212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Esta exposición se concentra en OE1, OE2, OE4 y OE5, que son los objetivos de procesamiento de lenguaje natural. El OE3 es gestión y se muestra solo como destino aplicado.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Estado del arte: cinco líneas que sostienen el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1972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Línea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9357" y="1865376"/>
            <a:ext cx="2968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5551" y="1865376"/>
            <a:ext cx="57326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Qué aporta a este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12848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Supervisión débil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357" y="2212848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Ratner et al. (Snorkel)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5551" y="2212848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Etiquetar a escala con reglas, sin anotación manual masiva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88336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Aprendizaje por atajo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9357" y="2688336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Geirhos et al. (2020); Zech et al. (2018)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5551" y="2688336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modelo puede acertar por la razón equivocada: hay que auditarlo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63824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Ventana de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9357" y="3163824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Li et al. (2022) · Clinical-Longformer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5551" y="3163824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Extender la ventana a 4,096 supera a ClinicalBERT en texto largo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5844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Encoders clínicos 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9357" y="3639312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JAMIA (2024) · BETO, bsc-bio-ehr-es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5551" y="3639312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Fija la expectativa realista para la transferencia al español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14800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Fiabilidad observador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9357" y="4114800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Byrt et al. (1993) · PABAK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5551" y="4114800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Corrige la paradoja de kappa cuando la prevalencia es desigual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1792224"/>
            <a:ext cx="11057839" cy="274320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61772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1772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7091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Zech et al. entrenaron un detector de neumonía que aprendió a reconocer el hospital de procedencia por marcas en la radiografía. Ese antecedente es exactamente lo que encontramos aquí — y lo veremos medido.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eligió el modelo, y con qué criterio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tarea determina la métrica, y la métrica determina qué ranking es pertinente.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676656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230794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4329" y="2121408"/>
            <a:ext cx="42025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Por qué se usó o se descartó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MTEB / MMTEB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329" y="2468880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Único ranking masivo que puntúa clasificación y filtra por idioma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6766560" cy="5669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IberBench (arXiv 2504.16921)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4329" y="3035808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Referencia para español; mide tareas de interés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02736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JAMIA 2024 — encoders clínicos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602736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Evidencia revisada por pares sobre 12 corpus clínicos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14800"/>
            <a:ext cx="6766560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169664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Open LLM Leaderboard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4329" y="4169664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DESCARTADO: archivado por sus autores y mide razonamiento, no clasificación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048256"/>
            <a:ext cx="6766560" cy="263347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2048256"/>
            <a:ext cx="3977639" cy="27889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2048256"/>
            <a:ext cx="3977639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2494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FILTROS DUROS DE ADMISIBILIDAD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6974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2587752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F1  </a:t>
            </a:r>
            <a:r>
              <a:rPr sz="1200">
                <a:solidFill>
                  <a:srgbClr val="5A6268"/>
                </a:solidFill>
                <a:latin typeface="Calibri"/>
              </a:rPr>
              <a:t>clasificación multietiqueta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0998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2990088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F2  </a:t>
            </a:r>
            <a:r>
              <a:rPr sz="1200">
                <a:solidFill>
                  <a:srgbClr val="5A6268"/>
                </a:solidFill>
                <a:latin typeface="Calibri"/>
              </a:rPr>
              <a:t>opera sobre inglés clínico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350215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3392424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F3  </a:t>
            </a:r>
            <a:r>
              <a:rPr sz="1200">
                <a:solidFill>
                  <a:srgbClr val="5A6268"/>
                </a:solidFill>
                <a:latin typeface="Calibri"/>
              </a:rPr>
              <a:t>CPU, huella ≤ 2.5 GB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390448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8" y="3794760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F4  </a:t>
            </a:r>
            <a:r>
              <a:rPr sz="1200">
                <a:solidFill>
                  <a:srgbClr val="5A6268"/>
                </a:solidFill>
                <a:latin typeface="Calibri"/>
              </a:rPr>
              <a:t>cumple el DUA de PhysioNet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430682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4197096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F5  </a:t>
            </a:r>
            <a:r>
              <a:rPr sz="1200">
                <a:solidFill>
                  <a:srgbClr val="5A6268"/>
                </a:solidFill>
                <a:latin typeface="Calibri"/>
              </a:rPr>
              <a:t>pesos y código libres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1206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1206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2120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filtro F4 es el que casi nadie aplica: PhysioNet prohíbe expresamente enviar texto de MIMIC a APIs de terceros. Eso elimina de entrada a ChatGPT y a cualquier LLM por API pública.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flujo completo, de la nota libre al responsable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ig_flujo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929384"/>
            <a:ext cx="10881360" cy="43283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Las fases del flujo y el script que ejecuta cada 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40233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64603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16" y="1865376"/>
            <a:ext cx="628553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Qué resuelve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962" y="1865376"/>
            <a:ext cx="374222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24942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Corpus por supervisión débil: códigos CIE + 35 patrones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962" y="224942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fase3_v2_corpus_completo.py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2416" y="2724912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Comparación de modelos, fuga, circularidad, multietiqueta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962" y="2724912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fase4_*.py  (7 scripts)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200400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Modelo final con el confusor de época controlado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962" y="3200400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fase9_modelo_final.py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21024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8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2416" y="3675888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Ajuste fino de Bio_ClinicalBERT y BioBERT en 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962" y="3675888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fase11_finetuning_transformers.py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51376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51376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Contraste contra el consenso de dos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962" y="4151376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fase12_sistema_vs_experto.py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572000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62686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2416" y="462686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Transferencia al español con etiqueta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962" y="462686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oe5_ersp_preparar.py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1792224"/>
            <a:ext cx="11057839" cy="325526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27608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27608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36752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Todo el código es público en github.com/carlosperez100/PLN_SP; los datos clínicos NO se versionan (DUA de PhysioNet y protección de datos). La bitácora conserva el comando y la salida de consola de cada corrida.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Los datos: MIMIC-IV-Note v2.2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331,793 resúmenes de alta del Beth Israel Deaconess Medical Center (2008–2019), con acceso credencializado por PhysioNet.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en el corpus de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1296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296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37,692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positivas (53.8% del corpus)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5664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20.12%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prevalencia POBLACIONAL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00032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6336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109,775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hospitalizaciones con evento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3989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Por qué 70,000 y no las 331,793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05656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Vectorizar n-gramas de carácter sobre más de 100,000 notas desborda la RAM disponible. El techo práctico verificado fue de 70,000 notas. El corpus está balanceado a propósito; la población no lo está.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48456"/>
            <a:ext cx="5120640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648456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83133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CONTROL DEL CONFUSOR DE ÉPOCA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178808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F2428"/>
                </a:solidFill>
                <a:latin typeface="Consolas"/>
              </a:rPr>
              <a:t>positivos era CIE-10:  28.92%
negativos era CIE-10:  28.92%
diferencia:            0.0000%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prevalencia poblacional (20.12 %) es muy distinta de la del conjunto de prueba, que está balanceado. Esa diferencia es la que obliga a reajustar el valor predictivo positivo — lo veremos en resultados.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Segundo corpus: texto peruano real, con etiqueta de oro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8,799 ocurrencias REALES del sistema peruano de reporte, en español, codificadas una a una por profesionales contra los Anexos 02 y 03. No es una simulación ni una traducción: es la norma y el idioma de destino.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548640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Paso del preprocesamiento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276856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Registros originales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62432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8,799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3522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9008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Identificadores anonimizados en el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99008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Textos demasiado breves (&lt; 30 caracteres)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35584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2160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Duplicados eliminados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72160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2,463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32504"/>
            <a:ext cx="548640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8736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Corpus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8736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6,336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203704"/>
            <a:ext cx="5486400" cy="219456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2203704"/>
            <a:ext cx="5120640" cy="224028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20370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386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ESTÁNDAR DE PLATA FRENTE A ESTÁNDAR DE ORO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752344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MIMIC se etiqueta con códigos CIE que asigna un codificador administrativo: estándar de PLATA.
El ERSP lo codificó un profesional leyendo cada descripción contra la norma: estándar de ORO. Es la primera medición contra criterio humano.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Sin la deduplicación el mismo texto caía en entrenamiento y en prueba, y las métricas salían infladas. Ese paso solo eliminó 2,463 filas de 8,799.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3892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13892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23036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Advertencia de comparabilidad — estas cifras NO son comparables con las de MIMIC: el reporte ERSP describe un evento que quien lo escribió YA identificó; en la nota clínica el evento hay que ENCONTRARLO. Es un problema distinto y más fácil por construcción.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(1): etiquetar 331,793 notas sin anotarlas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fase3_v2_tier_a_corregido.py  ·  fase3_v2_corpus_completo.py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A - los codigos CIE-10 del Anexo 02 llevan punto (A04.7)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y MIMIC los guarda sin punto (A047). El JOIN nunca acertaba.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clave = orig.replace('.', '').upper()          # &lt;-- EL ARREGLO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la coincidencia es POR PREFIJO, no por igualdad: MIMIC usa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codigos mas especificos que el mapeo (A047 -&gt; A0471, A0472)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for p in prefijos: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m = cod10.str.startswith(p)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B - acotar la ventana del comodin. Con re.DOTALL un .*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atravesaba la nota entera y unia parrafos sin relacion.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acotar(patron, n=100):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patron.replace('.*', '.{0,' + str(n) + '}')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DOS VÍAS DE ETIQUETADO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A  </a:t>
            </a:r>
            <a:r>
              <a:rPr sz="1200">
                <a:solidFill>
                  <a:srgbClr val="5A6268"/>
                </a:solidFill>
                <a:latin typeface="Calibri"/>
              </a:rPr>
              <a:t>223 códigos CIE-10 y CIE-9 mapeados al Anexo 02. Estratificados en A1 causal y A2 condiciones.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22783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311810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B  </a:t>
            </a:r>
            <a:r>
              <a:rPr sz="1200">
                <a:solidFill>
                  <a:srgbClr val="5A6268"/>
                </a:solidFill>
                <a:latin typeface="Calibri"/>
              </a:rPr>
              <a:t>35 patrones de texto con NegEx para descartar la negación.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estrato A1 y A2 existe porque MIMIC no trae bandera de present-on-admission: sin ella, una neumonía puede ser el motivo de ingreso y no una infección causada por la atención.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12978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20293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Efecto medido de las dos correcciones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0757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3481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13832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A · hospitalizaciones recuperadas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0757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3481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109,714  (267×)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88152"/>
            <a:ext cx="11057839" cy="32918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B · detecciones con el comodín acotado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757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258,671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3481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93,922  (−63.7 %)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29784"/>
            <a:ext cx="11057839" cy="98755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(2): representación del texto y particiones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fase4_v2_etiqueta_a1.py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construir_vectorizador():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Palabra + CARACTER: los n-gramas de caracter dan robustez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ante abreviaturas y variantes del texto clinico.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FeatureUnion([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('palabra',  TfidfVectorizer(max_features=60000,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ngram_range=(1, 2))),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('caracter', TfidfVectorizer(analyzer='char_wb',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ngram_range=(3, 5)))])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Division POR PACIENTE, nunca por nota: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gss = GroupShuffleSplit(n_splits=1, test_size=0.2, random_state=42)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tr, te = next(gss.split(txt, Y, groups=df['subject_id']))</a:t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assert not (set(p_tr) &amp; set(p_te)), 'FUGA: pacientes compartidos'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TRES DECISIONES DE PROTOCOLO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Partición por paciente, con aserción explícita de no solape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06324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2953512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El vectorizador se ajusta solo con el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72160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7" y="3611880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Intervalos por bootstrap agrupado por paciente, no por nota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Remuestrear notas en vez de pacientes viola la independencia y estrecha artificialmente los intervalos de confianza. Por eso el bootstrap agrupa por subject_id.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93792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66944"/>
            <a:ext cx="507857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Curva de escalabilidad: cuánto texto necesita el modelo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4961" y="5266944"/>
            <a:ext cx="134051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4126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120 caracteres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4961" y="554126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0.214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60720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1558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2,000 caracteres  (≈ 512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4961" y="581558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8990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Texto completo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4961" y="608990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0.526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193792"/>
            <a:ext cx="6675120" cy="11155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5303520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Truncar a 512 tokens cuesta ~18 % del F1-macro. Es la medición propia que sustenta la necesidad de un modelo de contexto largo.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4.3 · MODELAMIENTO Y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Modelamiento: dos etapas, con derecho a abstenerse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2004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Etapa 1 · Detección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¿Hay evento adverso?
Binaria, con clase negativa (33,564 notas sin evento)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21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92224"/>
            <a:ext cx="32004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Etapa 2 · Naturaleza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¿De qué tipo?
8 clases del Anexo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1792224"/>
            <a:ext cx="320040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Cascada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cifra honesta:
los errores se acumulan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39242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Prueba de abstención ante texto sin contenido clínico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30168"/>
            <a:ext cx="6675120" cy="16916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721608"/>
            <a:ext cx="6419088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                  texto de entrada    margen        decision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------------------------------------------------------------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.                                     -2.284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ok                                    -1.180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Paciente estable, sin novedad.        -0.978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Routine follow up. Vitals stable.     -0.876   se abstiene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Abstiene en 6/6 casos triviales.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392424"/>
            <a:ext cx="4114800" cy="16916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339242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detector sin clase negativa marca como positivo casi cualquier texto: no puede decir «aquí no hay nada».
Añadirla es lo que convierte un clasificador en un detector.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Evaluar la Etapa 2 sobre positivos de referencia supone un detector perfecto y sobreestima el rendimiento. La cascada se evalúa solo sobre pacientes que ninguna de las dos etapas vio.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entorno y coste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 corrió en una laptop, sin nube y sin coste. El entorno se creó aislado para no comprometer el intérprete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02536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Preparación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6675120" cy="13716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40280"/>
            <a:ext cx="38100" cy="13716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31720"/>
            <a:ext cx="640080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"C:\ProgramData\Anaconda3\python.exe" -m venv T:\MIMIC\.venv-gpu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torch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--index-url https://download.pytorch.org/whl/cu126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transformers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accelerate sentence-transformers scikit-learn pandas pyarrow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torch 2.13.0+cu126 | numpy 2.5.1 | cuda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002536"/>
            <a:ext cx="41148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002536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17627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HP Victus 16 · 12 hilos · 15.6 GB RAM
NVIDIA GTX 1650, 4 GB (sin Tensor Cores)
Windows 11 · Python 3.13 · disco NVMe dedicado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57016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630168"/>
            <a:ext cx="467807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4454" y="3630168"/>
            <a:ext cx="174101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Duración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044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Ablación sobre el corpus completo (331,793 notas)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54" y="39044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17 h 56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12394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788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ponderado (GPU)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54" y="41788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3 h 57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4531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BioBERT · ajuste fino (GPU)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4454" y="44531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7258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(GPU)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4454" y="47274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0176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Etiqueta A1 y curva de escalabilidad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4454" y="500176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46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22122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760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Validación cruzada 5-fold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4454" y="52760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55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504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Resto de experimentos de la fase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4454" y="55504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03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76986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8247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4 modelos TF-IDF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4454" y="58247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min 46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044184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990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TOTAL REGISTRADO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4454" y="60990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33 h 54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557016"/>
            <a:ext cx="6675120" cy="276148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3557016"/>
            <a:ext cx="4114800" cy="19202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55701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37398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CONTRASTE QUE IMPORTA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05656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Los 3 transformers:  9 h 47 min → F1-macro 0.354
Los 4 TF-IDF:  1 min 46 s → F1-macro 0.459
333 veces más cómputo, para perder.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comandos y salida real de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Nada de esto está reconstruido. Es la salida literal de los logs, tal como quedó en la bitácora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562356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48256"/>
            <a:ext cx="5349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fase3_v2_tier_a_corregido.py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23744"/>
            <a:ext cx="562356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15184"/>
            <a:ext cx="536752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[23:00:34] [+0:00:00] Mapeo: 223 codigos - A1 73 - A2 150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6,364,488 diagnosticos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metodo ORIGINAL (con punto):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[23:23:06] [+0:22:31] metodo CORREGIDO (prefijo): 109,714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Hospitalizaciones, original  : 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Hospitalizaciones, corregido : 109,714   (266.9x)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A1 causal explicito : 18,989 notas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A2 condiciones      : 53,375 notas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956816"/>
            <a:ext cx="507492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2048256"/>
            <a:ext cx="4800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fase3_v2_reanudar.py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523744"/>
            <a:ext cx="507492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5976" y="2615184"/>
            <a:ext cx="481888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[17:07:11] Checkpoint: 260,000 notas (78.4%)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[17:16:14] 280,000/331,793 ( 84.4%) | ETA 0:23:28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[17:39:37] 331,793/331,793 (100.0%) | ETA 0:00:00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Variante LAXA (re.DOTALL) : 258,671 detecciones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Variante ACOTADA (100 car): 93,922 detecciones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Reduccion al acotar       : 164,749 (63.7%)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Total 0:32:26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0916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70916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80060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corrida completa se cayó al 78.4 %. Por eso existe fase3_v2_reanudar.py, que retoma desde el punto de control en lugar de repetir 18 horas.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38581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458968"/>
            <a:ext cx="59537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La verificación que confirma el diagnóstico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017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8854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752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Variación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51576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Patrones CON comodín .*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017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42,330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8854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752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−84.1 %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989320"/>
            <a:ext cx="11057839" cy="29260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044184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Patrones SIN comodín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017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8854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752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0.0 %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385816"/>
            <a:ext cx="11057839" cy="89611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hallazgo central: un AUC de 0.973 que era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MIMIC abarca 2008–2019 y la transición CIE-9 → CIE-10 ocurrió en 2015. El mapeo inicial solo tenía CIE-10, así que toda hospitalización anterior era negativa por construcción.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942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Versión del 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923" y="2276856"/>
            <a:ext cx="1207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94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871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24328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Inicial — INVÁLIDA, no se cita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8923" y="2624328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94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871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71800"/>
            <a:ext cx="6675120" cy="40233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Reevaluada con emparejamiento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8923" y="3026664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0.694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94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71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0.171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74136"/>
            <a:ext cx="6675120" cy="40233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Final — siete modos corregidos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8923" y="3429000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394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0.843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71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03704"/>
            <a:ext cx="6675120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2203704"/>
            <a:ext cx="4114800" cy="169164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20370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23865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QUÉ APRENDIÓ EL MODELO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272491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No aprendió a reconocer eventos adversos: aprendió a distinguir la plantilla documental de cada época.
El rasgo de mayor peso era palabra__rdwsd — un artefacto de cabecera de laboratorio, sin ningún contenido clínico.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78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Los siete modos de fallo, todos con efecto medido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34840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Corpus era solo el 9 % (dos LIMIT sin declarar)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745736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re.DOTALL cruzaba la nota entera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5056632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Códigos CIE con punto frente a MIMIC sin punto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47725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367528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Ausencia de clase negativa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4434840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Confusor de época CIE-9 / CIE-10  ← el más grave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4745736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43 de 223 códigos eran reglas muertas (CIE-10 OMS ≠ CM)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056632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Bandas de priorización degeneradas con n pequeño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80644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" y="58978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Lección para llevarse: un AUC alto puede sostenerse íntegramente en una señal espuria. El aporte de este trabajo no es una métrica, es la auditoría que la hizo creíble.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la etapa de detección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60350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1803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9580" y="1819656"/>
            <a:ext cx="132039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989" y="1819656"/>
            <a:ext cx="252740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IC 95 % (agrupado por paciente)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9580" y="2167128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989" y="2167128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[0.7514, 0.7729]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96312"/>
            <a:ext cx="6035040" cy="38404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551176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7989" y="2551176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[0.7591, 0.7809]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35224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580" y="2935224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0.8426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7989" y="2935224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[0.8361, 0.8493]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746504"/>
            <a:ext cx="6035040" cy="151790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92424"/>
            <a:ext cx="6035040" cy="109728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483864"/>
            <a:ext cx="5779008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Matriz de confusion: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VP=5,761   FP=1,502   FN=1,796   VN=5,026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VPP crudo en el test (balanceado) : 0.793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VPP reajustado a prevalencia real : 0.455   &lt;-- el operativo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746504"/>
            <a:ext cx="4754880" cy="2743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746504"/>
            <a:ext cx="475488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92938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VPP DEPENDE DE DÓNDE SE DESPLIEGUE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3042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3042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0.148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517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65176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0.269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9923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onsolas"/>
              </a:rPr>
              <a:t>prevalencia 20.12 %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onsolas"/>
              </a:rPr>
              <a:t>VPP 0.455 ← la real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34670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35 %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346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0.641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6941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6941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0.768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09651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E5F7F"/>
                </a:solidFill>
                <a:latin typeface="Calibri"/>
              </a:rPr>
              <a:t>El mismo modelo, de 0.15 a 0.77, sin cambiar una línea.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 cada 100 alertas, 45 son eventos reales. Revisar notas clínicas al azar encuentra 20. El sistema multiplica por 2.26 la eficiencia del revisor: opera como filtro de cribado, no como árbitro.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ranking de los siete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Todos evaluados sobre la misma partición estratificada, semilla 42. Las cifras son comparables entre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31429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681" y="2075688"/>
            <a:ext cx="517974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44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38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232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926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13432"/>
            <a:ext cx="11057839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3682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681" y="23682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TF-IDF + LinearSVC (texto completo)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44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0.7149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38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0.4592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32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0.5443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926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48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8775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6426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681" y="26426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(texto completo)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44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0.7109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38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0.3909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32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0.5132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8926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47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91693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681" y="291693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(fine-tuning, ponderado)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44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38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0.3541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232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0.3252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926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4.0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13639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19125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681" y="319125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(truncado a 1150 car.)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44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0.5746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538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6232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926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46557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681" y="346557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(truncado a 1150 car.)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44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0.5890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3538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0.2747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232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0.2951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926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 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368503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37398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681" y="37398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844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0.6072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38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232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0.3438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8926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40142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681" y="40142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BioBERT (fine-tuning)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844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0.5971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38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0.2097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6232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8926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2002536"/>
            <a:ext cx="11057839" cy="223113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4379976"/>
            <a:ext cx="6675120" cy="12344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4471416"/>
            <a:ext cx="6419088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EFECTO AISLADO DE LA VENTANA DE CONTEXTO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(misma arquitectura y datos; solo cambia cuanto texto ve)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exactitud   completo 0.715 -&gt; truncado 0.575  (-19.6%)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f1_macro    completo 0.459 -&gt; truncado 0.330  (-28.1%)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kappa       completo 0.544 -&gt; truncado 0.315  (-42.2%)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8079" y="4379976"/>
            <a:ext cx="4114800" cy="12344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37997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26679" y="4507992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La ventana de 256 tokens cubre solo el 9.0% del documento (mediana 3,148 tokens por nota clínica).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5760720"/>
            <a:ext cx="11057839" cy="65836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760720"/>
            <a:ext cx="50800" cy="65836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5852160"/>
            <a:ext cx="1069207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hipótesis inicial se refutó: el transformer clínico no superó al modelo léxico. La fila 4 explica por qué — al truncar el TF-IDF a la ventana de BERT, cae igual. No es la arquitectura, es cuánto texto ve. La mejora es Clinical-Longformer.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cascada y contraste con el juicio 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7607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4371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F1-micro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1729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Etapa 2 aislada (positivos de referencia)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4371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0.7516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1729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0.5126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4"/>
            <a:ext cx="576072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3288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CASCADA real (Etapa 1 → Etapa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71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0.4926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729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0.3626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4650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80944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Caída al encadenar: −34.5 % en F1-micro. Reportar la clasificación aislada sobreestima el rendimiento operativo en torno a un tercio.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746504"/>
            <a:ext cx="51206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9656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Contra el consenso experto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6761" y="1819656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889" y="1819656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IC 95 %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16712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6761" y="216712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0889" y="216712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[0.852, 0.981]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478024"/>
            <a:ext cx="512064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53288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6761" y="253288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0889" y="253288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[0.291, 0.768]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9864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761" y="289864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0.8966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0889" y="289864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[0.792, 0.952]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746504"/>
            <a:ext cx="5120640" cy="146304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30098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 = 68 casos · kappa sistema-experto 0.531 · matriz VP=52 FP=6 FN=3 VN=7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867912"/>
            <a:ext cx="4295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Robustez: ¿depende de quién anote?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1503" y="3867912"/>
            <a:ext cx="756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130" y="3867912"/>
            <a:ext cx="23047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Sensibilidad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8854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7529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21538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Consenso de ambos evaluadores (principal)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1503" y="4215384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6130" y="4215384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8854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7529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471416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52628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Evaluador B por separado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1503" y="4526280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66130" y="4526280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0.9032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8854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0.4667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7529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0.3896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782312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837176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ANÁLISIS AMPLIADO: los 163 casos anotados (152 útiles)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81503" y="4837176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130" y="4837176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0.9138  [0.849, 0.953]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8854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7529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794760"/>
            <a:ext cx="11057839" cy="129844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129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* En el análisis ampliado solo se lee la sensibilidad: el piloto se muestreó por estratos definidos por la salida del sistema, así que la especificidad y el kappa se reportan sobre el consenso.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62356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62356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" y="571500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sensibilidad se sostiene sobre 0.90 con cualquiera de las referencias — y al juntar los 163 casos anotados el intervalo se estrecha a la mitad. Además: el 25 % de los casos que la codificación declara negativos son eventos reales para el experto — el subregistro, medido con datos propios.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modelo ya funciona en texto peruano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Cuatro tareas sobre 6,336 casos reales del sistema peruano de reporte, con los códigos del Anexo 02 asignados por profesionales. Predicción out-of-fold: cada caso lo predice un modelo que no lo 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5354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1838" y="2276856"/>
            <a:ext cx="42951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Qué predice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4973" y="2276856"/>
            <a:ext cx="142008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3070" y="2276856"/>
            <a:ext cx="9777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8853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7528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587752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1838" y="2587752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Evento adverso frente a incidente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4973" y="2587752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3070" y="2587752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8853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7528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843784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898648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1838" y="2898648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Naturaleza (Anexo 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4973" y="2898648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3070" y="2898648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853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7528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09544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838" y="320954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Severidad (Anexo 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4973" y="3209544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3070" y="3209544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8853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7528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0.602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65576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20440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T4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1838" y="352044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Código de evento específico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4973" y="3520440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3070" y="3520440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8853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0.761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7528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0.659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2203704"/>
            <a:ext cx="11057839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97764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Lo que el corpus español rescata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06824"/>
            <a:ext cx="57607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379976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Naturaleza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8299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MIMIC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3693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español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581144"/>
            <a:ext cx="57607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63600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Gestión de la organización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08299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n=24 · F1 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63693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F1 0.853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855464"/>
            <a:ext cx="57607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91032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Cuidado del paciente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08299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0.791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3693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0.923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18464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Medicación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8299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0.679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63693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0.875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430682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92240" y="3977640"/>
            <a:ext cx="5120640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92240" y="3977640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4105656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ENTREGABLE PARA REVISIÓN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398264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8,799 casos exportados a Excel con la codificación humana, la predicción del modelo y el semáforo de acierto. Los 2,870 errores quedan en su propia hoja, listos para revisión clínica.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564184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564184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73328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T4 es nuevo: el código de evento específico nunca se había modelado. De las 154 categorías usadas, 41 tienen casos suficientes y cubren el 89 % del corpus.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Posición frente a la literatura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Comparación orientativa (Tabla VI del artículo): los estándares de referencia y los corpus difieren, por lo que las cifras no son directamente equiparables — se declara y se compara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74702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3406" y="2276856"/>
            <a:ext cx="396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Hallazgo reportado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4806" y="2276856"/>
            <a:ext cx="396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Resultado análogo aquí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Murff 2011 · JAMA
(2,974 cirugías, est. oro)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3406" y="2569464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Sens. del PLN 59–91 % según complicación;
los indicadores por códigos: 5–46 %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4806" y="2569464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Sens. 0.762 vs códigos y 0.945 vs consenso
experto — mismo régimen de funcionamiento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2783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282696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Classen 2011 · Health Affairs
(GTT, 795 admisiones)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3406" y="3282696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EA en el 33 % de las admisiones; la notificación
voluntaria y los PSI pierden ~90 %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4806" y="3282696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Subregistro medido con datos propios: 25 % de
los negativos por código eran eventos reales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95928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Zech 2018 · PLoS Med.
(RX de tórax, multi-hospital)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3406" y="3995928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AUC interno 0.931 → 0.815 fuera del hospital;
identifica el hospital de origen en &gt;99.9 %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4806" y="3995928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El paralelo en texto: AUC 0.973 espurio (época)
→ 0.843 con el confusor controlado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6542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709160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Li 2022 · Clinical-Longformer
(benchmarks clínicos)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3406" y="4709160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La ventana de 4,096 tokens supera
consistentemente a ClinicalBERT (512)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4806" y="4709160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Coherente con el efecto aislado aquí: truncar
al alcance de BERT cuesta −28 % de F1-macro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203704"/>
            <a:ext cx="11057839" cy="316382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58698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8698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784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lectura transversal: el PLN supera a la codificación administrativa en toda la literatura (Murff), el subregistro es un fenómeno universal (Classen), el aprendizaje por atajo amenaza a cualquier modelo clínico (Zech) — y este trabajo replica los tres hallazgos con datos propios y los controla.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4.6 · DESTINO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Del texto a la decisión de gestión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salida del canal de PLN alimenta la matriz de priorización vigente en EsSalud. Esto ya no es PLN: es el destino del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Frecuencia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A → B = (A/Σa)×9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Impacto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G = 0.40 estancia + 0.20 complic.
+ 0.15 sobrecostos + 0.25 insatisf.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249424"/>
            <a:ext cx="265176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B1522"/>
                </a:solidFill>
                <a:latin typeface="Calibri"/>
              </a:rPr>
              <a:t>Índice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H = B×G → I = H/Σh → J = I×100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249424"/>
            <a:ext cx="265176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6F54"/>
                </a:solidFill>
                <a:latin typeface="Calibri"/>
              </a:rPr>
              <a:t>Banda y responsable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P25 verde · P50 amarillo · P75 rojo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71246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78561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Banda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0904" y="3785616"/>
            <a:ext cx="24085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Acción de mejora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7449" y="3785616"/>
            <a:ext cx="20080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133088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Verde  (≤ P25)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0904" y="4133088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actividades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7449" y="4133088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Jefatura de servicio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425696"/>
            <a:ext cx="6675120" cy="34747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80560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Amarillo  (P25–P75)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0904" y="4480560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procesos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7449" y="4480560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Departamento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828032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Rojo  (&gt; P75)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4828032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Proyecto de 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7449" y="4828032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Dirección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712464"/>
            <a:ext cx="6675120" cy="140817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712464"/>
            <a:ext cx="4114800" cy="173736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79" y="371246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38953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UN DEFECTO CORREGIDO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4242815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Con menos de 8 eventos los percentiles se degeneran e invierten la prioridad: una úlcera de impacto alto salía verde. Ahora, con n&lt;8, se usa corte absoluto sobre 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matriz no es una propuesta del autor: la Directiva N.º 7-OGCyH-ESSALUD-2020 la cita textualmente en su artículo 5.13 como el instrumento vigente.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aporte de este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No es un algoritmo nuevo: es la evidencia de cómo hacer CONFIABLE el PLN clínico, y su primer acople con la norma peruana.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93976"/>
            <a:ext cx="3611880" cy="50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METODOLÓGICO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Un protocolo de auditoría de validez para supervisión débil en texto clínico: siete modos de fallo identificados, medidos y corregidos.
El confusor de época como caso ejemplar de aprendizaje por atajo: un AUC de 0.973 que era falso.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93976"/>
            <a:ext cx="3611880" cy="508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EMPÍRICO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El aislamiento experimental de la ventana de contexto como factor dominante sobre la arquitectura.
Mismo algoritmo, mismos datos, solo cambia cuánto texto ve: −28 % de F1-macro. Define la vía de mejora correcta.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02752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2093976"/>
            <a:ext cx="3611880" cy="508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APLICADO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El primer acople documentado de un canal de PLN con la taxonomía normativa peruana (Anexos 02 y 03).
Validado con etiqueta de oro en español: naturaleza, código de evento y severidad sobre 6,336 casos reales.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157216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157216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248656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Frente al estado del arte: la literatura reporta métricas; este trabajo reporta métricas AUDITADAS, con el protocolo que las hace confiables — y las lleva por primera vez a la norma y al idioma del sistema de salud peruano.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76479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719072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¿Resuelve el problema planteado? La capa técnica, sí; la institucional queda lista.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95681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El sistema encuentra lo no notificado (el 25 % de los negativos por código eran reales) y multiplica por 2.26 la eficiencia del revisor. El piloto institucional tiene sus parámetros calculados.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4144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395728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Un modelo léxico bien construido superó al transformer clínico.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33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La hipótesis inicial se refutó y el resultado negativo se reporta como tal: TF-IDF + LinearSVC 0.459 frente a Bio_ClinicalBERT 0.354 de F1-macro.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0672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118104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072384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La diferencia se explica por la ventana de contexto, no por la arquitectura.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3101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Truncar el modelo léxico a los 256 tokens que ve BERT lo degrada un 28 % con los mismos datos. La vía de mejora es un modelo de secuencia larga.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67328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947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74904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El aporte principal es la auditoría de validez.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98678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Siete modos de fallo del etiquetado, con el confusor de época como caso ejemplar: un AUC de 0.973 sostenido en una plantilla documental.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43984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4714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425696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La evaluación en cascada corrige un optimismo de un tercio.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F1-micro 0.752 aislada frente a 0.493 extremo a extremo.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12064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14807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" y="5102352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Contra juicio experto el sistema recupera el 94.5 % de los eventos.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34009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Con especificidad 0.538: sirve como cribado, no como árbitro.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79729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82472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5779008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El modelo ya demostró funcionar en texto peruano real.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" y="601675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Cuatro tareas con etiqueta de oro sobre casos reales del sistema nacional de reporte, incluida por primera vez la predicción del código de evento específico del Anexo 02.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Limitaciones declaradas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Se declaran porque acotan el alcance de cada cifra. Ninguna se descubrió después: todas están medidas.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939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Estándar de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09397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métricas sobre MIMIC miden acuerdo con códigos CIE, no con juicio clínico.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8986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Reutilización del conjunto de prueba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898648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 lo largo de las iteraciones del canal; sesgo optimista no cuantificado. El umbral no se ajustó.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11880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11880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03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Alcance de la validación experta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703320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muestra está restringida a eventos de infección; n = 78.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1655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16552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5079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Cobertura de datos estructurados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507992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tablas de UCI cubren solo el 19.7 % de las notas clínicas.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221224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221224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3126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Independencia del anotador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312664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autor es a la vez desarrollador y anotador. Se mitiga con interfaz ciega, orden aleatorio, cronometraje auditable y un segundo evaluador.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0258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02589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1173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Transferencia al español no demostrada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611733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Hoy son dos canales paralelos: el corpus español se entrena desde cero, no se transfiere el modelo de MIMIC.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6 ·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Recomendaciones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Corto plazo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Sustituir la arquitectura por Clinical-Longformer (ventana 4,096): es la hipótesis que el experimento deja planteada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Anotar el gold standard de 350 notas para medir validez clínica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Ampliar la clase GRAVE del corpus español (23 casos, F1 0.148)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Mediano plazo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Entrenar sobre notas clínicas peruanas con un encoder clínico en español (bsc-bio-ehr-es), previa autorización de datos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Integrar el detector como cribado en la Oficina de Calidad, con el revisor humano decidiendo siempre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Medir el coste-beneficio real: horas-revisor ahorradas frente a revisiones improductivas generadas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5780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25780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34924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sistema no sustituye al profesional de calidad: le dice a quién mirar primero. Con VPP 0.455, más de la mitad de las alertas son falsas — aceptable para un cribado, no para una decisión automática.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7 ·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Referencias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El artículo completo cita 34 fuentes. Estas son las que sostienen las decisiones de diseño.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7510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7510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Johnson, A. et al. MIMIC-IV-Note: deidentified free-text clinical notes v2.2. PhysioNet.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Alsentzer, E. et al. Publicly Available Clinical BERT Embeddings. Clinical NLP Workshop,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7977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77977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Lee, J. et al. BioBERT: a pre-trained biomedical language representation model. Bioinformatics, 2020.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8211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18211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Li, Y. et al. Clinical-Longformer and Clinical-BigBird: Transformers for long clinical sequences. 2022.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844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[5]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58444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Ratner, A. et al. Snorkel: rapid training data creation with weak supervision. VLDB, 2017.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9867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98678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Geirhos, R. et al. Shortcut learning in deep neural networks. Nature Machine Intelligence, 2020.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891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[7]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38912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Zech, J. et al. Variable generalization performance of a deep learning model to detect pneumonia. PLOS Medicine, 2018.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[8]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9145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Byrt, T., Bishop, J., Carlin, J. Bias, prevalence and kappa. Journal of Clinical Epidemiology, 1993.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9379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[9]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519379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de Vries, E. et al. The incidence and nature of in-hospital adverse events. BMJ Quality &amp; Safety, 2008.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59612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EsSalud. Directiva GG-ESSALUD-2021: registro, notificación y gestión de los ERSP. Anexos 02 y 03.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943600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5F7F"/>
                </a:solidFill>
                <a:latin typeface="Calibri"/>
              </a:rPr>
              <a:t>Código, resultados y artículo completo:  github.com/carlosperez100/PLN_SP    ·    carlosperez100.github.io/PLN_SP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De la notificación voluntaria
a la detección sistemática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931920"/>
            <a:ext cx="118872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2519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E8C8CC"/>
                </a:solidFill>
                <a:latin typeface="Calibri"/>
              </a:rPr>
              <a:t>El aporte no es una métrica alta: es una métrica en la que se puede confiar.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9496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E0B8BE"/>
                </a:solidFill>
                <a:latin typeface="Calibri"/>
              </a:rPr>
              <a:t>Carlos Pérez Pérez
MIA-10 Procesamiento del Lenguaje Natural · Universidad Nacional de Ingeniería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</Words>
  <Application>Microsoft Office PowerPoint</Application>
  <PresentationFormat>Panorámica</PresentationFormat>
  <Paragraphs>13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Tema de Office</vt:lpstr>
      <vt:lpstr>Titulo</vt:lpstr>
      <vt:lpstr>Agenda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Titulo</dc:title>
  <dc:creator>Wester Zela</dc:creator>
  <cp:lastModifiedBy>Wester Zela</cp:lastModifiedBy>
  <cp:revision>5</cp:revision>
  <dcterms:created xsi:type="dcterms:W3CDTF">2026-07-30T15:18:56Z</dcterms:created>
  <dcterms:modified xsi:type="dcterms:W3CDTF">2026-07-30T15:32:06Z</dcterms:modified>
</cp:coreProperties>
</file>