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2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2191695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8B768-6A59-421E-A96D-28251705A1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ECDCA5-73B2-41A5-80B1-D9FF62E261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FB00EB7-5DB7-4CD4-B6D7-A1CABA93C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631B4C-7DC2-4A92-9440-8A70C6DC5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8ECF5F-A367-486F-9E77-59F8CF903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101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8EF0B6-7BE0-4BD9-BFDA-E88D59279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70EC75E-CA75-42D4-99E8-2DC0AF3DEA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8FC981E-E68C-438D-B221-FAEA0EC71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3D020CC-B3CB-44D4-917C-FB4FAF417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D275A4F-AE2E-412E-AC66-22576937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9564869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B09A15-A394-46D0-A2F2-F7EC73E6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AAC3355-412D-42C7-AFD4-EBB8828FE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E550613-8A1B-4978-A5DA-E4010FED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EC0465-87C5-4931-B8ED-1D36BF72C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87F6A4-2AAB-40F2-A3E9-0280ACCDB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9244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EBF3B-CBD6-431B-B37A-2B65E726D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2D76FF-3D27-4172-B1ED-A48DAB888A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58C92D0-6D67-4F36-8C2C-2901EFA9DA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A122A71-EE80-4FDC-ACB9-ECF247E35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7997BDB-94EB-4097-A6AA-CB30ADA4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334A2C0-EE24-4BB9-9DF0-F1CC1278B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68453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F203AA-3B7E-4A0D-97F1-3314052C9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B57817B-8C85-4FD9-A254-9F47D173FA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6D711A-50C3-48D5-A795-886F975600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FD8FC29-FA84-476D-9C7C-55AF0D807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48625CC-B703-422B-8CE2-E06DDA40F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D7BE4DA-EE2E-46E6-BA3D-998B84230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C503806-D8C0-4C89-B056-CACF4522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35D3E71-1E27-4A89-B889-7386510BE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54190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55F42C-BF1C-4591-9173-9F0BFB9C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E4E7EA3-E3B1-4EDE-958A-83950ABCA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B028D18-A74A-4B70-84BD-444560858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16EB9E9-24E0-41EE-AE4B-C7650A8F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1430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3FE7901-A88E-4F4F-85E5-C826F778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CE7379E-5CC1-466C-AB34-63C2B907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C2A281-6EE7-4910-B1E9-3E8ED937E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02403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195856-4C8F-4F61-89B9-41FBC3B1C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FD77DC6-1EC8-4036-95AD-E7C07674E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41FE2B9-83F5-497F-8FB1-D162A4EE89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9980770-0159-432A-B29D-05C736354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2581D1E-DE3B-4DB5-ACD9-401F77B3C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CC4CE1-9C4E-46FC-A538-0CB9CF6782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45467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FC35BC-F291-4407-BB33-50EE09817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6A4E7640-14B2-4441-BBD3-10D6878AA4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3F1AEB0-0A6E-4907-B24D-4595386C8D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2EBA416-E4F2-443F-A375-3D59F86877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321DFC-3B38-4490-91C2-2DD73858D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FC670CC-8104-40E6-8B04-2D6C3C2CF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403098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DD0ADD-89D3-49D4-99E8-02221D3C8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1EF01C-A05A-4739-8017-72EB877567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62502F-421D-480A-B15B-0A5EC5BE3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629797D-4F58-4B31-B2D1-39E726358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6847E3-C2B8-4A63-B456-0721F6B57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6759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822DEA2-05A9-457E-9F25-5FBACC27DA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2D8FB33-BAEF-4F5B-8530-77A68DF93C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C9C2326-D44D-4B4A-AC12-E59643D63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0C57A73-72ED-44B7-BCC6-27B0899B3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FE2C254-5F7A-4C3E-8631-2F19DD4A4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88970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73FA9C-274A-4124-8ED9-0B6E0F50C4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A052BA7-71AD-496E-9EBF-9D4DBBB1E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ED91D2-FC78-4B4D-9EF5-D1FEC8728D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BD94-08FF-4D11-8A9F-6EE186E41470}" type="datetimeFigureOut">
              <a:rPr lang="es-PE" smtClean="0"/>
              <a:t>30/07/2026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2EA436-DFF4-40B0-B5F3-AC4340307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A6FD509-100D-4615-93D0-D824AEFDA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A207DB-9EDE-4627-865F-BBC67B128CF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1596472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8C8CC"/>
                </a:solidFill>
                <a:latin typeface="Calibri"/>
              </a:rPr>
              <a:t>UNIVERSIDAD NACIONAL DE INGENIERÍA · MAESTRÍA EN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6868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Detección automática de eventos adversos
hospitalarios en notas clínicas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542032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2E5F7F"/>
                </a:solidFill>
                <a:latin typeface="Calibri"/>
              </a:rPr>
              <a:t>Un canal de Procesamiento de Lenguaje Natural sobre MIMIC-IV, auditado y validado contra juicio experto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08960"/>
            <a:ext cx="4937760" cy="254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10128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Curso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2808" y="3310128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MIA-10 · Procesamiento del Lenguaje Natural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730752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Docente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3730752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Dr. Wester Zela Moraya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51376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Autor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2808" y="4151376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F2428"/>
                </a:solidFill>
                <a:latin typeface="Calibri"/>
              </a:rPr>
              <a:t>Carlos Pérez Pérez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188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Fecha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4572000"/>
            <a:ext cx="5486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1F2428"/>
                </a:solidFill>
                <a:latin typeface="Calibri"/>
              </a:rPr>
              <a:t>9 de agosto de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200400"/>
            <a:ext cx="4663440" cy="292608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3200400"/>
            <a:ext cx="46634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340156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TRABAJO EN CUATRO CIFRAS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376732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83133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procesadas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31596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33 h 54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37997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cómputo registrado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486460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2861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modelos comparados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5413248"/>
            <a:ext cx="1600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7B1522"/>
                </a:solidFill>
                <a:latin typeface="Calibri"/>
              </a:rPr>
              <a:t>0.843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5477256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AUC del detector final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2E5F7F"/>
                </a:solidFill>
                <a:latin typeface="Calibri"/>
              </a:rPr>
              <a:t>github.com/carlosperez100/PLN_SP   ·   carlosperez100.github.io/PLN_SP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3385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Introducción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Seguridad del paciente y la norma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del problema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subregistro del 72 %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Antecedentes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Estado del arte y selección del modelo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98848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562856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498848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Planteamiento de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8006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Datos · Preprocesamiento · Modelamiento · Ejecución · Resultados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00784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6479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17007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Conclusiones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2002536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Qué se confirmó y qué se refutó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633472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69748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63347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Recomendaciones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2935224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Hacia dónde sigue el trabajo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566160"/>
            <a:ext cx="384048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63016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356616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F2428"/>
                </a:solidFill>
                <a:latin typeface="Calibri"/>
              </a:rPr>
              <a:t>Referencias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86791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34 fuentes citadas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punto 4 concentra el 60 % de la exposición e incluye la ejecución real del código: comandos, salidas de consola y el cuaderno corriendo en vivo.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1 · INTRODUCCIÓN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Un daño causado por la atención, no por la enfermedad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87452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64792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Definición.  </a:t>
            </a:r>
            <a:r>
              <a:rPr sz="1500">
                <a:solidFill>
                  <a:srgbClr val="5A6268"/>
                </a:solidFill>
                <a:latin typeface="Calibri"/>
              </a:rPr>
              <a:t>Daño no intencional derivado de la atención sanitaria, no del curso natural de la enfermedad del paciente.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30098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91256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Magnitud.  </a:t>
            </a:r>
            <a:r>
              <a:rPr sz="1500">
                <a:solidFill>
                  <a:srgbClr val="5A6268"/>
                </a:solidFill>
                <a:latin typeface="Calibri"/>
              </a:rPr>
              <a:t>Están entre las 10 primeras causas de muerte y discapacidad en el mundo (OMS).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40142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3904488"/>
            <a:ext cx="5376672" cy="713232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En el Perú.  </a:t>
            </a:r>
            <a:r>
              <a:rPr sz="1500">
                <a:solidFill>
                  <a:srgbClr val="5A6268"/>
                </a:solidFill>
                <a:latin typeface="Calibri"/>
              </a:rPr>
              <a:t>La Directiva GG-ESSALUD-2021 los regula y define su notificación obligatoria.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792224"/>
            <a:ext cx="5120640" cy="32004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79222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199339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ANEXO 02 · LA TAXONOMÍA QUE SE AUTOMATIZA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414016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231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505456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eventos adversos tipificados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072384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16382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naturalezas que los agrupan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730752"/>
            <a:ext cx="1005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7B1522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822192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niveles de severidad (Anexo 03)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2920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1206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tarea de este trabajo: leer el texto libre de una nota clínica y decidir si contiene un evento adverso y de qué naturaleza es, según esa taxonomía.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 información existe, pero nadie la lee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~72 %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los eventos adversos no se notifican en EsSalud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unos 37,000 al año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7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8847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1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de las notas clínicas contienen esa información en texto libre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1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no explotable a mano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30766" y="1792224"/>
            <a:ext cx="3675887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0766" y="1792224"/>
            <a:ext cx="3675887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77070" y="1975104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0" y="2487168"/>
            <a:ext cx="33832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notificación depende de que alguien decida reportar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77070" y="3081528"/>
            <a:ext cx="33832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2E5F7F"/>
                </a:solidFill>
                <a:latin typeface="Calibri"/>
              </a:rPr>
              <a:t>y voluntaria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6210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F2428"/>
                </a:solidFill>
                <a:latin typeface="Calibri"/>
              </a:rPr>
              <a:t>Por qué falla el registro manual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005072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Subnotificación por temor a la sanción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389120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Saturación del personal: el evento se registra pero no se analiza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773168"/>
            <a:ext cx="53766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Priorización heterogénea entre servicios y lenta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411480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4005072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texto clínico es largo (mediana 3,148 tokens)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49884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3408" y="4389120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El evento no está señalado: hay que encontrarlo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488289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4773168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Sin denominador no se puede priorizar por riesgo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8640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48640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57784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Pregunta de investigación:  ¿es posible detectar automáticamente, desde el texto libre del resumen de alta, los eventos adversos ocurridos durante la hospitalización, y clasificarlos según la taxonomía normativa, con fiabilidad comparable a la del juicio experto?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2 · PLANTEAMIENTO DEL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Objetivos del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00784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Objetivo general — diseñar, implementar y validar un canal de PLN que detecte y priorice eventos adversos automáticamente, con miras a su transferencia a EsSalud.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780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551176"/>
            <a:ext cx="6460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551176"/>
            <a:ext cx="584321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Objetivo específico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3649" y="2551176"/>
            <a:ext cx="418454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Estado al día de hoy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898648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2416" y="2898648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Construir un corpus etiquetado por supervisión débil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3649" y="2898648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70,000 notas clínicas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264408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319272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Comparar transformers biomédicos con modelos clásicos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3649" y="3319272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7 modelos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739896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2416" y="3739896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Automatizar la matriz de priorización GEMSES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3649" y="3739896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Implementado · fuera del alcance de PLN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105656"/>
            <a:ext cx="11057839" cy="42062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4160520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60520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Contrastar el sistema contra evaluadores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3649" y="4160520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163 casos con juicio experto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581144"/>
            <a:ext cx="646032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2416" y="4581144"/>
            <a:ext cx="584321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Documentar la transferencia al español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3649" y="4581144"/>
            <a:ext cx="4184541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Cumplido · 6,336 casos ERSP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2478024"/>
            <a:ext cx="11057839" cy="24688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544068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44068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53212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Esta exposición se concentra en OE1, OE2, OE4 y OE5, que son los objetivos de procesamiento de lenguaje natural. El OE3 es gestión y se muestra solo como destino aplicado.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Estado del arte: cinco líneas que sostienen el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197297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Línea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59357" y="1865376"/>
            <a:ext cx="2968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Referencia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5551" y="1865376"/>
            <a:ext cx="57326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Qué aporta a este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12848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Supervisión débil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9357" y="2212848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Ratner et al. (Snorkel)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5551" y="2212848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Etiquetar a escala con reglas, sin anotación manual masiva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33472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88336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Aprendizaje por atajo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9357" y="2688336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Geirhos et al. (2020); Zech et al. (2018)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5551" y="2688336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modelo puede acertar por la razón equivocada: hay que auditarlo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63824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Ventana de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59357" y="3163824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Li et al. (2022) · Clinical-Longformer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5551" y="3163824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Extender la ventana a 4,096 supera a ClinicalBERT en texto largo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5844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9312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Encoders clínicos 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59357" y="3639312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JAMIA (2024) · BETO, bsc-bio-ehr-es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5551" y="3639312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Fija la expectativa realista para la transferencia al español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14800"/>
            <a:ext cx="197297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Fiabilidad observador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59357" y="4114800"/>
            <a:ext cx="296817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Byrt et al. (1993) · PABAK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5551" y="4114800"/>
            <a:ext cx="573263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Corrige la paradoja de kappa cuando la prevalencia es desigual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1792224"/>
            <a:ext cx="11057839" cy="274320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61772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61772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7091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Zech et al. entrenaron un detector de neumonía que aprendió a reconocer el hospital de procedencia por marcas en la radiografía. Ese antecedente es exactamente lo que encontramos aquí — y lo veremos medido.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3 · ANTECEDENTES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eligió el modelo, y con qué criterio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tarea determina la métrica, y la métrica determina qué ranking es pertinente. No al revés.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48256"/>
            <a:ext cx="676656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21408"/>
            <a:ext cx="230794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Instrumento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94329" y="2121408"/>
            <a:ext cx="420258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Por qué se usó o se descartó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468880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MTEB / MMTEB Leaderboard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4329" y="2468880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Único ranking masivo que puntúa clasificación y filtra por idioma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80944"/>
            <a:ext cx="6766560" cy="5669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035808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IberBench (arXiv 2504.16921)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4329" y="3035808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Referencia para español; mide tareas de interés industrial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602736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JAMIA 2024 — encoders clínicos 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4329" y="3602736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Evidencia revisada por pares sobre 12 corpus clínicos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14800"/>
            <a:ext cx="6766560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169664"/>
            <a:ext cx="2307945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Open LLM Leaderboard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4329" y="4169664"/>
            <a:ext cx="420258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DESCARTADO: archivado por sus autores y mide razonamiento, no clasificación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048256"/>
            <a:ext cx="6766560" cy="263347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5240" y="2048256"/>
            <a:ext cx="3977639" cy="27889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35240" y="2048256"/>
            <a:ext cx="3977639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63840" y="22494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FILTROS DUROS DE ADMISIBILIDAD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26974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65008" y="2587752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F1  </a:t>
            </a:r>
            <a:r>
              <a:rPr sz="1200">
                <a:solidFill>
                  <a:srgbClr val="5A6268"/>
                </a:solidFill>
                <a:latin typeface="Calibri"/>
              </a:rPr>
              <a:t>clasificación multietiqueta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09981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65008" y="2990088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F2  </a:t>
            </a:r>
            <a:r>
              <a:rPr sz="1200">
                <a:solidFill>
                  <a:srgbClr val="5A6268"/>
                </a:solidFill>
                <a:latin typeface="Calibri"/>
              </a:rPr>
              <a:t>opera sobre inglés clínico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350215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65008" y="3392424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F3  </a:t>
            </a:r>
            <a:r>
              <a:rPr sz="1200">
                <a:solidFill>
                  <a:srgbClr val="5A6268"/>
                </a:solidFill>
                <a:latin typeface="Calibri"/>
              </a:rPr>
              <a:t>CPU, huella ≤ 2.5 GB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63840" y="390448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65008" y="3794760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F4  </a:t>
            </a:r>
            <a:r>
              <a:rPr sz="1200">
                <a:solidFill>
                  <a:srgbClr val="5A6268"/>
                </a:solidFill>
                <a:latin typeface="Calibri"/>
              </a:rPr>
              <a:t>cumple el DUA de PhysioNet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430682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4197096"/>
            <a:ext cx="3319272" cy="402336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F5  </a:t>
            </a:r>
            <a:r>
              <a:rPr sz="1200">
                <a:solidFill>
                  <a:srgbClr val="5A6268"/>
                </a:solidFill>
                <a:latin typeface="Calibri"/>
              </a:rPr>
              <a:t>pesos y código libres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1206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51206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52120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filtro F4 es el que casi nadie aplica: PhysioNet prohíbe expresamente enviar texto de MIMIC a APIs de terceros. Eso elimina de entrada a ChatGPT y a cualquier LLM por API pública.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flujo completo, de la nota libre al responsable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fig_flujo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929384"/>
            <a:ext cx="10881360" cy="43283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 · PLANTEAMIENTO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Las fases del flujo y el script que ejecuta cada 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11057839" cy="40233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65376"/>
            <a:ext cx="64603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Fase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16" y="1865376"/>
            <a:ext cx="628553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Qué resuelve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962" y="1865376"/>
            <a:ext cx="374222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24942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2416" y="224942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Corpus por supervisión débil: códigos CIE + 35 patrones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5962" y="224942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fase3_v2_corpus_completo.py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70048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724912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32416" y="2724912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Comparación de modelos, fuga, circularidad, multietiqueta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5962" y="2724912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fase4_*.py  (7 scripts)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200400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2416" y="3200400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Modelo final con el confusor de época controlado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5962" y="3200400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fase9_modelo_final.py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21024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75888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32416" y="3675888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Ajuste fino de Bio_ClinicalBERT y BioBERT en 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45962" y="3675888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fase11_finetuning_transformers.py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151376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2416" y="4151376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Contraste contra el consenso de dos expertos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5962" y="4151376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fase12_sistema_vs_experto.py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572000"/>
            <a:ext cx="11057839" cy="47548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4626864"/>
            <a:ext cx="646032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32416" y="4626864"/>
            <a:ext cx="628553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Transferencia al español con etiqueta de oro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962" y="4626864"/>
            <a:ext cx="3742227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oe5_ersp_preparar.py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1792224"/>
            <a:ext cx="11057839" cy="325526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27608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527608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36752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Todo el código es público en github.com/carlosperez100/PLN_SP; los datos clínicos NO se versionan (DUA de PhysioNet y protección de datos). La bitácora conserva el comando y la salida de consola de cada corrida.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Los datos: MIMIC-IV-Note v2.2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331,793 resúmenes de alta del Beth Israel Deaconess Medical Center (2008–2019), con acceso credencializado por PhysioNet.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70,000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notas clínicas en el corpus de modelado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1296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1296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37,692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positivas (53.8% del corpus)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5664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20.12%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prevalencia POBLACIONAL real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00032" y="2002536"/>
            <a:ext cx="2761488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0032" y="2002536"/>
            <a:ext cx="2761488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46336" y="2185416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7B1522"/>
                </a:solidFill>
                <a:latin typeface="Calibri"/>
              </a:rPr>
              <a:t>109,775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46336" y="2697480"/>
            <a:ext cx="2468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hospitalizaciones con evento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39896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Por qué 70,000 y no las 331,793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05656"/>
            <a:ext cx="5577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5A6268"/>
                </a:solidFill>
                <a:latin typeface="Calibri"/>
              </a:rPr>
              <a:t>Vectorizar n-gramas de carácter sobre más de 100,000 notas desborda la RAM disponible. El techo práctico verificado fue de 70,000 notas. El corpus está balanceado a propósito; la población no lo está.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648456"/>
            <a:ext cx="5120640" cy="1600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92240" y="3648456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831336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CONTROL DEL CONFUSOR DE ÉPOCA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4178808"/>
            <a:ext cx="4663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1F2428"/>
                </a:solidFill>
                <a:latin typeface="Consolas"/>
              </a:rPr>
              <a:t>positivos era CIE-10:  28.92%
negativos era CIE-10:  28.92%
diferencia:            0.0000%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prevalencia poblacional (20.12 %) es muy distinta de la del conjunto de prueba, que está balanceado. Esa diferencia es la que obliga a reajustar el valor predictivo positivo — lo veremos en resultados.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4.1 · DESCRIPCIÓN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Segundo corpus: texto peruano real, con etiqueta de oro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8,799 ocurrencias REALES del sistema peruano de reporte, en español, codificadas una a una por profesionales contra los Anexos 02 y 03. No es una simulación ni una traducción: es la norma y el idioma de destino.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548640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Paso del preprocesamiento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276856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Casos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2432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Registros originales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62432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8,799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93522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9008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Identificadores anonimizados en el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8576" y="299008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35584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Textos demasiado breves (&lt; 30 caracteres)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335584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548640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72160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Duplicados eliminados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372160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2,463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32504"/>
            <a:ext cx="548640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087368"/>
            <a:ext cx="38221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Corpus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08576" y="4087368"/>
            <a:ext cx="1408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6,336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203704"/>
            <a:ext cx="5486400" cy="219456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2203704"/>
            <a:ext cx="5120640" cy="224028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2203704"/>
            <a:ext cx="512064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20840" y="2386584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ESTÁNDAR DE PLATA FRENTE A ESTÁNDAR DE ORO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752344"/>
            <a:ext cx="4663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MIMIC se etiqueta con códigos CIE que asigna un codificador administrativo: estándar de PLATA.
El ERSP lo codificó un profesional leyendo cada descripción contra la norma: estándar de ORO. Es la primera medición contra criterio humano.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Sin la deduplicación el mismo texto caía en entrenamiento y en prueba, y las métricas salían infladas. Ese paso solo eliminó 2,463 filas de 8,799.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3892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6928" y="513892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523036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Advertencia de comparabilidad — estas cifras NO son comparables con las de MIMIC: el reporte ERSP describe un evento que quien lo escribió YA identificó; en la nota clínica el evento hay que ENCONTRARLO. Es un problema distinto y más fácil por construcción.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(1): etiquetar 331,793 notas sin anotarlas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fase3_v2_tier_a_corregido.py  ·  fase3_v2_corpus_completo.py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A - los codigos CIE-10 del Anexo 02 llevan punto (A04.7)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y MIMIC los guarda sin punto (A047). El JOIN nunca acertaba.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clave = orig.replace('.', '').upper()          # &lt;-- EL ARREGLO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la coincidencia es POR PREFIJO, no por igualdad: MIMIC usa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codigos mas especificos que el mapeo (A047 -&gt; A0471, A0472)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for p in prefijos: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m = cod10.str.startswith(p)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Tier B - acotar la ventana del comodin. Con re.DOTALL un .*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atravesaba la nota entera y unia parrafos sin relacion.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acotar(patron, n=100):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patron.replace('.*', '.{0,' + str(n) + '}')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DOS VÍAS DE ETIQUETADO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A  </a:t>
            </a:r>
            <a:r>
              <a:rPr sz="1200">
                <a:solidFill>
                  <a:srgbClr val="5A6268"/>
                </a:solidFill>
                <a:latin typeface="Calibri"/>
              </a:rPr>
              <a:t>223 códigos CIE-10 y CIE-9 mapeados al Anexo 02. Estratificados en A1 causal y A2 condiciones.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22783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3118104"/>
            <a:ext cx="3502152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Tier B  </a:t>
            </a:r>
            <a:r>
              <a:rPr sz="1200">
                <a:solidFill>
                  <a:srgbClr val="5A6268"/>
                </a:solidFill>
                <a:latin typeface="Calibri"/>
              </a:rPr>
              <a:t>35 patrones de texto con NegEx para descartar la negación.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estrato A1 y A2 existe porque MIMIC no trae bandera de present-on-admission: sin ella, una neumonía puede ser el motivo de ingreso y no una infección causada por la atención.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12978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20293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Efecto medido de las dos correcciones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0757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3481" y="520293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513832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A · hospitalizaciones recuperadas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0757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3481" y="5513832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109,714  (267×)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88152"/>
            <a:ext cx="11057839" cy="329184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43016"/>
            <a:ext cx="606437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Tier B · detecciones con el comodín acotado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0757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258,671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3481" y="5843016"/>
            <a:ext cx="2304708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93,922  (−63.7 %)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129784"/>
            <a:ext cx="11057839" cy="98755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4.2 · PREPROCESAMIENTO DE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Preprocesamiento (2): representación del texto y particiones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4650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fase4_v2_etiqueta_a1.py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84248"/>
            <a:ext cx="6675120" cy="22860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84248"/>
            <a:ext cx="38100" cy="22860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75688"/>
            <a:ext cx="6400800" cy="2103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def construir_vectorizador():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Palabra + CARACTER: los n-gramas de caracter dan robustez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    # ante abreviaturas y variantes del texto clinico.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return FeatureUnion([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('palabra',  TfidfVectorizer(max_features=60000,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ngram_range=(1, 2))),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('caracter', TfidfVectorizer(analyzer='char_wb',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                                ngram_range=(3, 5)))])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D6F54"/>
                </a:solidFill>
                <a:latin typeface="Consolas"/>
              </a:rPr>
              <a:t># Division POR PACIENTE, nunca por nota: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gss = GroupShuffleSplit(n_splits=1, test_size=0.2, random_state=42)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tr, te = next(gss.split(txt, Y, groups=df['subject_id']))</a:t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assert not (set(p_tr) &amp; set(p_te)), 'FUGA: pacientes compartidos'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1746504"/>
            <a:ext cx="4114800" cy="22860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174650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TRES DECISIONES DE PROTOCOLO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7" y="2295144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Partición por paciente, con aserción explícita de no solape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306324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7847" y="2953512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El vectorizador se ajusta solo con el entrenamiento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372160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7" y="3611880"/>
            <a:ext cx="35021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Intervalos por bootstrap agrupado por paciente, no por nota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348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348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5262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Remuestrear notas en vez de pacientes viola la independencia y estrecha artificialmente los intervalos de confianza. Por eso el bootstrap agrupa por subject_id.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193792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66944"/>
            <a:ext cx="507857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Curva de escalabilidad: cuánto texto necesita el modelo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64961" y="5266944"/>
            <a:ext cx="134051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54126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120 caracteres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4961" y="554126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0.214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60720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581558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Truncado a 2,000 caracteres  (≈ 512 tokens)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64961" y="581558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035040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6089904"/>
            <a:ext cx="507857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Texto completo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64961" y="6089904"/>
            <a:ext cx="134051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0.526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5193792"/>
            <a:ext cx="6675120" cy="11155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79" y="5303520"/>
            <a:ext cx="4114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Truncar a 512 tokens cuesta ~18 % del F1-macro. Es la medición propia que sustenta la necesidad de un modelo de contexto largo.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4.3 · MODELAMIENTO Y EVALUACIÓN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Modelamiento: dos etapas, con derecho a abstenerse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792224"/>
            <a:ext cx="32004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E5F7F"/>
                </a:solidFill>
                <a:latin typeface="Calibri"/>
              </a:rPr>
              <a:t>Etapa 1 · Detección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¿Hay evento adverso?
Binaria, con clase negativa (33,564 notas sin evento)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221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245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24528" y="1792224"/>
            <a:ext cx="32004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B1522"/>
                </a:solidFill>
                <a:latin typeface="Calibri"/>
              </a:rPr>
              <a:t>Etapa 2 · Naturaleza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¿De qué tipo?
8 clases del Anexo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2295144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A6268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1792224"/>
            <a:ext cx="32004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8" y="1792224"/>
            <a:ext cx="320040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65008" y="197510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6F54"/>
                </a:solidFill>
                <a:latin typeface="Calibri"/>
              </a:rPr>
              <a:t>Cascada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65008" y="2322576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cifra honesta:
los errores se acumulan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392424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Prueba de abstención ante texto sin contenido clínico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630168"/>
            <a:ext cx="6675120" cy="16916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721608"/>
            <a:ext cx="6419088" cy="1508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                  texto de entrada    margen        decision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------------------------------------------------------------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.                                     -2.284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ok                                    -1.180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Paciente estable, sin novedad.        -0.978   se abstiene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Routine follow up. Vitals stable.     -0.876   se abstiene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Abstiene en 6/6 casos triviales.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3392424"/>
            <a:ext cx="4114800" cy="16916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3392424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3575304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Un detector sin clase negativa marca como positivo casi cualquier texto: no puede decir «aquí no hay nada».
Añadirla es lo que convierte un clasificador en un detector.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Evaluar la Etapa 2 sobre positivos de referencia supone un detector perfecto y sobreestima el rendimiento. La cascada se evalúa solo sobre pacientes que ninguna de las dos etapas vio.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entorno y coste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 corrió en una laptop, sin nube y sin coste. El entorno se creó aislado para no comprometer el intérprete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02536"/>
            <a:ext cx="6675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onsolas"/>
              </a:rPr>
              <a:t>Preparación del entorno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40280"/>
            <a:ext cx="6675120" cy="13716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40280"/>
            <a:ext cx="38100" cy="13716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331720"/>
            <a:ext cx="640080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"C:\ProgramData\Anaconda3\python.exe" -m venv T:\MIMIC\.venv-gpu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torch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--index-url https://download.pytorch.org/whl/cu126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T:\MIMIC\.venv-gpu\Scripts\python.exe -m pip install transformers \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>     accelerate sentence-transformers scikit-learn pandas pyarrow</a:t>
            </a:r>
          </a:p>
          <a:p>
            <a:pPr>
              <a:lnSpc>
                <a:spcPct val="110000"/>
              </a:lnSpc>
            </a:pPr>
            <a:r>
              <a:rPr sz="1100">
                <a:solidFill>
                  <a:srgbClr val="1F2428"/>
                </a:solidFill>
                <a:latin typeface="Consolas"/>
              </a:rPr>
              <a:t/>
            </a:r>
          </a:p>
          <a:p>
            <a:pPr>
              <a:lnSpc>
                <a:spcPct val="110000"/>
              </a:lnSpc>
            </a:pPr>
            <a:r>
              <a:rPr sz="1100" b="1">
                <a:solidFill>
                  <a:srgbClr val="7B1522"/>
                </a:solidFill>
                <a:latin typeface="Consolas"/>
              </a:rPr>
              <a:t>torch 2.13.0+cu126 | numpy 2.5.1 | cuda True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2002536"/>
            <a:ext cx="4114800" cy="13716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2002536"/>
            <a:ext cx="411480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17627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HP Victus 16 · 12 hilos · 15.6 GB RAM
NVIDIA GTX 1650, 4 GB (sin Tensor Cores)
Windows 11 · Python 3.13 · disco NVMe dedicado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57016"/>
            <a:ext cx="6675120" cy="29260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630168"/>
            <a:ext cx="467807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4454" y="3630168"/>
            <a:ext cx="174101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Duración real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9044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Ablación sobre el corpus completo (331,793 notas)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4454" y="39044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17 h 56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12394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1788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ponderado (GPU)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454" y="41788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3 h 57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44531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BioBERT · ajuste fino (GPU)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4454" y="44531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7258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7274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Bio_ClinicalBERT · ajuste fino (GPU)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4454" y="47274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55 min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00176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Etiqueta A1 y curva de escalabilidad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64454" y="500176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2 h 46 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22122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527608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Validación cruzada 5-fold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4454" y="527608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55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55040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Resto de experimentos de la fase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4454" y="555040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h 03 min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769864"/>
            <a:ext cx="66751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582472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4 modelos TF-IDF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64454" y="582472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1 min 46 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6044184"/>
            <a:ext cx="66751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099048"/>
            <a:ext cx="46780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TOTAL REGISTRADO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64454" y="6099048"/>
            <a:ext cx="174101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alibri"/>
              </a:rPr>
              <a:t>33 h 54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557016"/>
            <a:ext cx="6675120" cy="276148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98079" y="3557016"/>
            <a:ext cx="4114800" cy="19202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98079" y="355701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37398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CONTRASTE QUE IMPORTA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26679" y="4105656"/>
            <a:ext cx="3657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Los 3 transformers:  9 h 47 min → F1-macro 0.354
Los 4 TF-IDF:  1 min 46 s → F1-macro 0.459
333 veces más cómputo, para perder.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Cómo se ejecutó: comandos y salida real de consola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Nada de esto está reconstruido. Es la salida literal de los logs, tal como quedó en la bitácora del proyecto.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956816"/>
            <a:ext cx="562356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48256"/>
            <a:ext cx="5349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fase3_v2_tier_a_corregido.py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23744"/>
            <a:ext cx="562356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615184"/>
            <a:ext cx="536752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[23:00:34] [+0:00:00] Mapeo: 223 codigos - A1 73 - A2 150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6,364,488 diagnosticos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[23:23:06] [+0:22:31] metodo ORIGINAL (con punto):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[23:23:06] [+0:22:31] metodo CORREGIDO (prefijo): 109,714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Hospitalizaciones, original  :      411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Hospitalizaciones, corregido : 109,714   (266.9x)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A1 causal explicito : 18,989 notas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A2 condiciones      : 53,375 notas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1956816"/>
            <a:ext cx="5074920" cy="457200"/>
          </a:xfrm>
          <a:prstGeom prst="rect">
            <a:avLst/>
          </a:prstGeom>
          <a:solidFill>
            <a:srgbClr val="F7F8F9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1956816"/>
            <a:ext cx="38100" cy="4572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84264" y="2048256"/>
            <a:ext cx="48006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200">
                <a:solidFill>
                  <a:srgbClr val="1F2428"/>
                </a:solidFill>
                <a:latin typeface="Consolas"/>
              </a:rPr>
              <a:t>python fase3_v2_reanudar.py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523744"/>
            <a:ext cx="5074920" cy="205740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5976" y="2615184"/>
            <a:ext cx="4818888" cy="1874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[17:07:11] Checkpoint: 260,000 notas (78.4%)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[17:16:14] 280,000/331,793 ( 84.4%) | ETA 0:23:28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[17:39:37] 331,793/331,793 (100.0%) | ETA 0:00:00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Variante LAXA (re.DOTALL) : 258,671 detecciones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Variante ACOTADA (100 car): 93,922 detecciones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Reduccion al acotar       : 164,749 (63.7%)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/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Total 0:32:26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709160"/>
            <a:ext cx="11057839" cy="566928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709160"/>
            <a:ext cx="50800" cy="566928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80060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corrida completa se cayó al 78.4 %. Por eso existe fase3_v2_reanudar.py, que retoma desde el punto de control en lugar de repetir 18 horas.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38581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458968"/>
            <a:ext cx="59537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La verificación que confirma el diagnóstico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017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8854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Después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7529" y="545896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Variación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751576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Patrones CON comodín .*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017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42,330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8854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6,735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7529" y="5751576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−84.1 %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989320"/>
            <a:ext cx="11057839" cy="29260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044184"/>
            <a:ext cx="59537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Patrones SIN comodín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017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8854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13,189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7529" y="6044184"/>
            <a:ext cx="15306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0.0 %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385816"/>
            <a:ext cx="11057839" cy="896112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4.4 · EJECUCIÓN DEL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El hallazgo central: un AUC de 0.973 que era falso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MIMIC abarca 2008–2019 y la transición CIE-9 → CIE-10 ocurrió en 2015. El mapeo inicial solo tenía CIE-10, así que toda hospitalización anterior era negativa por construcción.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29425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Versión del detector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923" y="2276856"/>
            <a:ext cx="12070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94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8717" y="2276856"/>
            <a:ext cx="100675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24328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Inicial — INVÁLIDA, no se cita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8923" y="2624328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394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0.973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8717" y="2624328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0.433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971800"/>
            <a:ext cx="6675120" cy="40233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26664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Reevaluada con emparejamiento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8923" y="3026664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0.694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394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8717" y="3026664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0.171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3374136"/>
            <a:ext cx="6675120" cy="40233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429000"/>
            <a:ext cx="29425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Final — siete modos corregidos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28923" y="3429000"/>
            <a:ext cx="120700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0.770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394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0.843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8717" y="3429000"/>
            <a:ext cx="100675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2203704"/>
            <a:ext cx="6675120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2203704"/>
            <a:ext cx="4114800" cy="169164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20370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23865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QUÉ APRENDIÓ EL MODELO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2724912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No aprendió a reconocer eventos adversos: aprendió a distinguir la plantilla documental de cada época.
El rasgo de mayor peso era palabra__rdwsd — un artefacto de cabecera de laboratorio, sin ningún contenido clínico.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0782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F2428"/>
                </a:solidFill>
                <a:latin typeface="Calibri"/>
              </a:rPr>
              <a:t>Los siete modos de fallo, todos con efecto medido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8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" y="4434840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Corpus era solo el 9 % (dos LIMIT sin declarar)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4745736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re.DOTALL cruzaba la nota entera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5056632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Códigos CIE con punto frente a MIMIC sin punto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5477256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8096" y="5367528"/>
            <a:ext cx="5376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Ausencia de clase negativa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92240" y="4544568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4434840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Confusor de época CIE-9 / CIE-10  ← el más grave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485546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93408" y="4745736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43 de 223 códigos eran reglas muertas (CIE-10 OMS ≠ CM)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92240" y="516636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93408" y="5056632"/>
            <a:ext cx="49194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Bandas de priorización degeneradas con n pequeño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806440"/>
            <a:ext cx="11057839" cy="56692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806440"/>
            <a:ext cx="50800" cy="56692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9808" y="58978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Lección para llevarse: un AUC alto puede sostenerse íntegramente en una señal espuria. El aporte de este trabajo no es una métrica, es la auditoría que la hizo creíble.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la etapa de detección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60350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18031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Métrica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89580" y="1819656"/>
            <a:ext cx="132039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37989" y="1819656"/>
            <a:ext cx="252740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IC 95 % (agrupado por paciente)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9580" y="2167128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7989" y="2167128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[0.7514, 0.7729]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96312"/>
            <a:ext cx="6035040" cy="38404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51176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9580" y="2551176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0.7699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7989" y="2551176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[0.7591, 0.7809]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935224"/>
            <a:ext cx="18031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89580" y="2935224"/>
            <a:ext cx="132039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0.8426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7989" y="2935224"/>
            <a:ext cx="2527401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428"/>
                </a:solidFill>
                <a:latin typeface="Calibri"/>
              </a:rPr>
              <a:t>[0.8361, 0.8493]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1746504"/>
            <a:ext cx="6035040" cy="1517904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392424"/>
            <a:ext cx="6035040" cy="109728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3483864"/>
            <a:ext cx="5779008" cy="914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Matriz de confusion: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VP=5,761   FP=1,502   FN=1,796   VN=5,026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VPP crudo en el test (balanceado) : 0.793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VPP reajustado a prevalencia real : 0.455   &lt;-- el operativo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1746504"/>
            <a:ext cx="4754880" cy="274320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746504"/>
            <a:ext cx="475488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86600" y="192938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7B1522"/>
                </a:solidFill>
                <a:latin typeface="Calibri"/>
              </a:rPr>
              <a:t>EL VPP DEPENDE DE DÓNDE SE DESPLIEGUE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304288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304288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0.148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5176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98280" y="265176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0.269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2999232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F2428"/>
                </a:solidFill>
                <a:latin typeface="Consolas"/>
              </a:rPr>
              <a:t>prevalencia 20.12 %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2999232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onsolas"/>
              </a:rPr>
              <a:t>VPP 0.455 ← la real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3346704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35 %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346704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0.641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694176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prevalencia 50 %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694176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6268"/>
                </a:solidFill>
                <a:latin typeface="Consolas"/>
              </a:rPr>
              <a:t>VPP 0.768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409651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E5F7F"/>
                </a:solidFill>
                <a:latin typeface="Calibri"/>
              </a:rPr>
              <a:t>El mismo modelo, de 0.15 a 0.77, sin cambiar una línea.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53212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553212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9808" y="562356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 cada 100 alertas, 45 son eventos reales. Revisar notas clínicas al azar encuentra 20. El sistema multiplica por 2.26 la eficiencia del revisor: opera como filtro de cribado, no como árbitro.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ranking de los siete modelos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Todos evaluados sobre la misma partición estratificada, semilla 42. Las cifras son comparables entre sí.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310896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075688"/>
            <a:ext cx="31429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681" y="2075688"/>
            <a:ext cx="517974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844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3538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232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89263" y="2075688"/>
            <a:ext cx="11989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Tiempo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313432"/>
            <a:ext cx="11057839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3682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681" y="23682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TF-IDF + LinearSVC (texto completo)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44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0.7149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538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0.4592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32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0.5443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89263" y="23682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48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58775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6426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681" y="26426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(texto completo)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844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0.7109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538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0.3909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32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0.5132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89263" y="26426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47 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291693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681" y="291693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(fine-tuning, ponderado)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844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0.5429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38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0.3541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6232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0.3252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89263" y="291693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4.0 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13639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319125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0681" y="319125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(truncado a 1150 car.)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844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0.5746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3538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6232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89263" y="319125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46557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0681" y="346557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TF-IDF + LinearSVC sin balanceo (truncado a 1150 car.)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844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0.5890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3538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0.2747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6232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0.2951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89263" y="346557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5 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6928" y="3685032"/>
            <a:ext cx="11057839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373989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681" y="373989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Bio_ClinicalBERT (fine-tuning)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844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0.6072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3538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0.2487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232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0.3438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89263" y="373989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4014216"/>
            <a:ext cx="31429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681" y="4014216"/>
            <a:ext cx="517974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BioBERT (fine-tuning)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844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0.5971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538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0.2097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6232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0.3182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89263" y="4014216"/>
            <a:ext cx="11989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2.9 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2002536"/>
            <a:ext cx="11057839" cy="223113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4379976"/>
            <a:ext cx="6675120" cy="1234440"/>
          </a:xfrm>
          <a:prstGeom prst="rect">
            <a:avLst/>
          </a:prstGeom>
          <a:solidFill>
            <a:srgbClr val="1B2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4944" y="4471416"/>
            <a:ext cx="6419088" cy="1051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EFECTO AISLADO DE LA VENTANA DE CONTEXTO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(misma arquitectura y datos; solo cambia cuanto texto ve)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exactitud   completo 0.715 -&gt; truncado 0.575  (-19.6%)</a:t>
            </a:r>
          </a:p>
          <a:p>
            <a:pPr>
              <a:lnSpc>
                <a:spcPct val="108000"/>
              </a:lnSpc>
            </a:pPr>
            <a:r>
              <a:rPr sz="1100" b="0">
                <a:solidFill>
                  <a:srgbClr val="D8E0E6"/>
                </a:solidFill>
                <a:latin typeface="Consolas"/>
              </a:rPr>
              <a:t>  f1_macro    completo 0.459 -&gt; truncado 0.330  (-28.1%)</a:t>
            </a:r>
          </a:p>
          <a:p>
            <a:pPr>
              <a:lnSpc>
                <a:spcPct val="108000"/>
              </a:lnSpc>
            </a:pPr>
            <a:r>
              <a:rPr sz="1100" b="1">
                <a:solidFill>
                  <a:srgbClr val="7AD1A8"/>
                </a:solidFill>
                <a:latin typeface="Consolas"/>
              </a:rPr>
              <a:t> kappa       completo 0.544 -&gt; truncado 0.315  (-42.2%)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498079" y="4379976"/>
            <a:ext cx="4114800" cy="123444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498079" y="4379976"/>
            <a:ext cx="411480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26679" y="4507992"/>
            <a:ext cx="3657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La ventana de 256 tokens cubre solo el 9.0% del documento (mediana 3,148 tokens por nota clínica).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5760720"/>
            <a:ext cx="11057839" cy="658368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6928" y="5760720"/>
            <a:ext cx="50800" cy="65836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8" y="5852160"/>
            <a:ext cx="1069207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hipótesis inicial se refutó: el transformer clínico no superó al modelo léxico. La fila 4 explica por qué — al truncar el TF-IDF a la ventana de BERT, cae igual. No es la arquitectura, es cuánto texto ve. La mejora es Clinical-Longformer.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cascada y contraste con el juicio 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7607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819656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Evaluación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4371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F1-micro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1729" y="1819656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6712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Etapa 2 aislada (positivos de referencia)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4371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0.7516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51729" y="216712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0.5126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478024"/>
            <a:ext cx="5760720" cy="36576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532888"/>
            <a:ext cx="30979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CASCADA real (Etapa 1 → Etapa 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71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0.4926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1729" y="2532888"/>
            <a:ext cx="113934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0.3626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174650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980944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E5F7F"/>
                </a:solidFill>
                <a:latin typeface="Calibri"/>
              </a:rPr>
              <a:t>Caída al encadenar: −34.5 % en F1-micro. Reportar la clasificación aislada sobreestima el rendimiento operativo en torno a un tercio.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746504"/>
            <a:ext cx="512064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1819656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Contra el consenso experto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6761" y="1819656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60889" y="1819656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IC 95 %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216712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Sensibilidad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6761" y="216712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60889" y="216712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[0.852, 0.981]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2478024"/>
            <a:ext cx="5120640" cy="36576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53288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Especificidad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6761" y="253288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0889" y="253288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[0.291, 0.768]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98648"/>
            <a:ext cx="212506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761" y="2898648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0.8966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60889" y="2898648"/>
            <a:ext cx="17154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[0.792, 0.952]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1746504"/>
            <a:ext cx="5120640" cy="146304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300984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n = 68 casos · kappa sistema-experto 0.531 · matriz VP=52 FP=6 FN=3 VN=7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3794760"/>
            <a:ext cx="11057839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3867912"/>
            <a:ext cx="42951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Robustez: ¿depende de quién anote?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81503" y="3867912"/>
            <a:ext cx="7566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66130" y="3867912"/>
            <a:ext cx="23047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Sensibilidad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8854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Especificidad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7529" y="3867912"/>
            <a:ext cx="15306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Kappa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421538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Consenso de ambos evaluadores (principal)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81503" y="4215384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66130" y="4215384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0.9455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8854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7529" y="421538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0.5307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471416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52628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Evaluador B por separado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81503" y="4526280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66130" y="4526280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0.9032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98854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0.4667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7529" y="452628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0.3896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782312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837176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ANÁLISIS AMPLIADO: los 163 casos anotados (152 útiles)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81503" y="4837176"/>
            <a:ext cx="75661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152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66130" y="4837176"/>
            <a:ext cx="23047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0.9138  [0.849, 0.953]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98854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7529" y="4837176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—*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3794760"/>
            <a:ext cx="11057839" cy="129844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512978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* En el análisis ampliado solo se lee la sensibilidad: el piloto se muestreó por estratos definidos por la salida del sistema, así que la especificidad y el kappa se reportan sobre el consenso.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562356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6928" y="562356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9808" y="571500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sensibilidad se sostiene sobre 0.90 con cualquiera de las referencias — y al juntar los 163 casos anotados el intervalo se estrecha a la mitad. Además: el 25 % de los casos que la codificación declara negativos son eventos reales para el experto — el subregistro, medido con datos propios.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4.5 ·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Resultados: el modelo ya funciona en texto peruano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Cuatro tareas sobre 6,336 casos reales del sistema peruano de reporte, con los códigos del Anexo 02 asignados por profesionales. Predicción out-of-fold: cada caso lo predice un modelo que no lo vio.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11057839" cy="329184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76856"/>
            <a:ext cx="535454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1838" y="2276856"/>
            <a:ext cx="429511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Qué predice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44973" y="2276856"/>
            <a:ext cx="1420081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3070" y="2276856"/>
            <a:ext cx="97776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Clases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8853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Exactitud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7528" y="2276856"/>
            <a:ext cx="15306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F1-macro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587752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1838" y="2587752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Evento adverso frente a incidente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44973" y="2587752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3070" y="2587752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8853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0.862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7528" y="2587752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843784"/>
            <a:ext cx="11057839" cy="310896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898648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1838" y="2898648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Naturaleza (Anexo 02)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44973" y="2898648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3070" y="2898648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8853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0.846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7528" y="2898648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0.766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209544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T3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1838" y="3209544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Severidad (Anexo 03)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44973" y="3209544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LogReg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3070" y="3209544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8853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0.726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7528" y="3209544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0.602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465576"/>
            <a:ext cx="11057839" cy="310896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520440"/>
            <a:ext cx="53545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T4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1838" y="3520440"/>
            <a:ext cx="429511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Código de evento específico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44973" y="3520440"/>
            <a:ext cx="142008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LinearSVC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93070" y="3520440"/>
            <a:ext cx="97776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8853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0.761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7528" y="3520440"/>
            <a:ext cx="153065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F2428"/>
                </a:solidFill>
                <a:latin typeface="Calibri"/>
              </a:rPr>
              <a:t>0.659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2203704"/>
            <a:ext cx="11057839" cy="1572768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977640"/>
            <a:ext cx="5760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2428"/>
                </a:solidFill>
                <a:latin typeface="Calibri"/>
              </a:rPr>
              <a:t>Lo que el corpus español rescata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06824"/>
            <a:ext cx="57607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4379976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Naturaleza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08299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MIMIC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63693" y="4379976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 español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581144"/>
            <a:ext cx="5760720" cy="27432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463600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Gestión de la organización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08299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n=24 · F1 0.000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63693" y="463600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F2428"/>
                </a:solidFill>
                <a:latin typeface="Calibri"/>
              </a:rPr>
              <a:t>F1 0.853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4855464"/>
            <a:ext cx="5760720" cy="27432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91032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Cuidado del paciente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08299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0.791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63693" y="491032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0.923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" y="5184648"/>
            <a:ext cx="25219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Medicación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08299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0.679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63693" y="5184648"/>
            <a:ext cx="14273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F2428"/>
                </a:solidFill>
                <a:latin typeface="Calibri"/>
              </a:rPr>
              <a:t>F1 0.875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6928" y="4306824"/>
            <a:ext cx="5760720" cy="1097280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92240" y="3977640"/>
            <a:ext cx="5120640" cy="1481328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92240" y="3977640"/>
            <a:ext cx="512064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20840" y="4105656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D6F54"/>
                </a:solidFill>
                <a:latin typeface="Calibri"/>
              </a:rPr>
              <a:t>ENTREGABLE PARA REVISIÓN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4398264"/>
            <a:ext cx="4663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Los 8,799 casos exportados a Excel con la codificación humana, la predicción del modelo y el semáforo de acierto. Los 2,870 errores quedan en su propia hoja, listos para revisión clínica.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6928" y="5641848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5641848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5733288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T4 es nuevo: el código de evento específico nunca se había modelado. De las 154 categorías usadas, 41 tienen casos suficientes y cubren el 89 % del corpus.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4.6 · DESTINO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Del texto a la decisión de gestión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La salida del canal de PLN alimenta la matriz de priorización vigente en EsSalud. Esto ya no es PLN: es el destino del trabajo.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Frecuencia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A → B = (A/Σa)×9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249424"/>
            <a:ext cx="2651760" cy="38100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9584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E5F7F"/>
                </a:solidFill>
                <a:latin typeface="Calibri"/>
              </a:rPr>
              <a:t>Impacto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G = 0.40 estancia + 0.20 complic.
+ 0.15 sobrecostos + 0.25 insatisf.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9632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2" y="2249424"/>
            <a:ext cx="2651760" cy="381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B1522"/>
                </a:solidFill>
                <a:latin typeface="Calibri"/>
              </a:rPr>
              <a:t>Índice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H = B×G → I = H/Σh → J = I×100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249424"/>
            <a:ext cx="2651760" cy="12344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249424"/>
            <a:ext cx="2651760" cy="38100"/>
          </a:xfrm>
          <a:prstGeom prst="rect">
            <a:avLst/>
          </a:prstGeom>
          <a:solidFill>
            <a:srgbClr val="1D6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414016"/>
            <a:ext cx="23591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6F54"/>
                </a:solidFill>
                <a:latin typeface="Calibri"/>
              </a:rPr>
              <a:t>Banda y responsable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761488"/>
            <a:ext cx="23591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6268"/>
                </a:solidFill>
                <a:latin typeface="Calibri"/>
              </a:rPr>
              <a:t>P25 verde · P50 amarillo · P75 rojo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712464"/>
            <a:ext cx="6675120" cy="36576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785616"/>
            <a:ext cx="1874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Banda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0904" y="3785616"/>
            <a:ext cx="24085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Acción de mejora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7449" y="3785616"/>
            <a:ext cx="20080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Responsable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4133088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Verde  (≤ P25)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0904" y="4133088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actividades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97449" y="4133088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Jefatura de servicio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4425696"/>
            <a:ext cx="6675120" cy="34747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480560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Amarillo  (P25–P75)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0904" y="4480560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Mejora de procesos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97449" y="4480560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Departamento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828032"/>
            <a:ext cx="18745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Rojo  (&gt; P75)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0904" y="4828032"/>
            <a:ext cx="2408529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Proyecto de 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97449" y="4828032"/>
            <a:ext cx="200802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Dirección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712464"/>
            <a:ext cx="6675120" cy="1408176"/>
          </a:xfrm>
          <a:prstGeom prst="rect">
            <a:avLst/>
          </a:prstGeom>
          <a:noFill/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79" y="3712464"/>
            <a:ext cx="4114800" cy="1737360"/>
          </a:xfrm>
          <a:prstGeom prst="rect">
            <a:avLst/>
          </a:prstGeom>
          <a:solidFill>
            <a:srgbClr val="FA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498079" y="3712464"/>
            <a:ext cx="4114800" cy="38100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38953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B57A0E"/>
                </a:solidFill>
                <a:latin typeface="Calibri"/>
              </a:rPr>
              <a:t>UN DEFECTO CORREGIDO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4242815"/>
            <a:ext cx="3657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1F2428"/>
                </a:solidFill>
                <a:latin typeface="Calibri"/>
              </a:rPr>
              <a:t>Con menos de 8 eventos los percentiles se degeneran e invierten la prioridad: una úlcera de impacto alto salía verde. Ahora, con n&lt;8, se usa corte absoluto sobre 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5349240"/>
            <a:ext cx="11057839" cy="566928"/>
          </a:xfrm>
          <a:prstGeom prst="rect">
            <a:avLst/>
          </a:prstGeom>
          <a:solidFill>
            <a:srgbClr val="E4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6928" y="5349240"/>
            <a:ext cx="50800" cy="566928"/>
          </a:xfrm>
          <a:prstGeom prst="rect">
            <a:avLst/>
          </a:prstGeom>
          <a:solidFill>
            <a:srgbClr val="2E5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8" y="5440680"/>
            <a:ext cx="10692079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La matriz no es una propuesta del autor: la Directiva N.º 7-OGCyH-ESSALUD-2020 la cita textualmente en su artículo 5.13 como el instrumento vigente.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76479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71907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Un modelo léxico bien construido superó al transformer clínico.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975104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hipótesis inicial se refutó y el resultado negativo se reporta como tal: TF-IDF + LinearSVC 0.459 frente a Bio_ClinicalBERT 0.354 de F1-macro.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96312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523744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47802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La diferencia se explica por la ventana de contexto, no por la arquitectura.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273405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Truncar el modelo léxico a los 256 tokens que ve BERT lo degrada un 28 % con los mismos datos. La vía de mejora es un modelo de secuencia larga.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282696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236976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El aporte principal es la auditoría de validez.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493008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Siete modos de fallo del etiquetado, con el confusor de época como caso ejemplar: un AUC de 0.973 sostenido en una plantilla documental.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014216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041648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9959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La evaluación en cascada corrige un optimismo de un tercio.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251960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F1-micro 0.752 aislada frente a 0.493 extremo a extremo.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773168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800600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7548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Contra juicio experto el sistema recupera el 94.5 % de los eventos.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5010912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Con especificidad 0.538: sirve como cribado, no como árbitro.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5532120"/>
            <a:ext cx="274320" cy="27432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5559552"/>
            <a:ext cx="274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" y="5513832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428"/>
                </a:solidFill>
                <a:latin typeface="Calibri"/>
              </a:rPr>
              <a:t>El modelo ya demostró funcionar en texto peruano real.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769864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Cuatro tareas con etiqueta de oro sobre casos reales del sistema nacional de reporte, incluida por primera vez la predicción del código de evento específico del Anexo 02.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5 · 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Limitaciones declaradas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Se declaran porque acotan el alcance de cada cifra. Ninguna se descubrió después: todas están medidas.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0253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00253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09397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Estándar de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09397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métricas sobre MIMIC miden acuerdo con códigos CIE, no con juicio clínico.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807208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807208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89864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Reutilización del conjunto de prueba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2898648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A lo largo de las iteraciones del canal; sesgo optimista no cuantificado. El umbral no se ajustó.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11880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611880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7033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Alcance de la validación experta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703320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 muestra está restringida a eventos de infección; n = 78.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16552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416552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5079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Cobertura de datos estructurados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507992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Las tablas de UCI cubren solo el 19.7 % de las notas clínicas.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221224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5221224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3126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Independencia del anotador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312664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El autor es a la vez desarrollador y anotador. Se mitiga con interfaz ciega, orden aleatorio, cronometraje auditable y un segundo evaluador.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6025896"/>
            <a:ext cx="11057839" cy="713232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6025896"/>
            <a:ext cx="50800" cy="713232"/>
          </a:xfrm>
          <a:prstGeom prst="rect">
            <a:avLst/>
          </a:prstGeom>
          <a:solidFill>
            <a:srgbClr val="B57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61173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F2428"/>
                </a:solidFill>
                <a:latin typeface="Calibri"/>
              </a:rPr>
              <a:t>Transferencia al español no demostrada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24528" y="6117336"/>
            <a:ext cx="7223760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268"/>
                </a:solidFill>
                <a:latin typeface="Calibri"/>
              </a:rPr>
              <a:t>Hoy son dos canales paralelos: el corpus español se entrena desde cero, no se transfiere el modelo de MIMIC.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6 · RECOMENDACIONES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Recomendaciones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Corto plazo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Sustituir la arquitectura por Clinical-Longformer (ventana 4,096): es la hipótesis que el experimento deja planteada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Anotar el gold standard de 350 notas para medir validez clínica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Ampliar la clase GRAVE del corpus español (23 casos, F1 0.148)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63056" y="1746504"/>
            <a:ext cx="5468112" cy="384048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181965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Mediano plazo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2404872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Entrenar sobre notas clínicas peruanas con un encoder clínico en español (bsc-bio-ehr-es), previa autorización de datos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54496" y="3209544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3099816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Integrar el detector como cribado en la Oficina de Calidad, con el revisor humano decidiendo siempre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3611880"/>
            <a:ext cx="63500" cy="635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502152"/>
            <a:ext cx="508406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Medir el coste-beneficio real: horas-revisor ahorradas frente a revisiones improductivas generadas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57800"/>
            <a:ext cx="11057839" cy="685800"/>
          </a:xfrm>
          <a:prstGeom prst="rect">
            <a:avLst/>
          </a:prstGeom>
          <a:solidFill>
            <a:srgbClr val="F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5257800"/>
            <a:ext cx="50800" cy="6858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349240"/>
            <a:ext cx="10692079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>
                <a:solidFill>
                  <a:srgbClr val="1F2428"/>
                </a:solidFill>
                <a:latin typeface="Calibri"/>
              </a:rPr>
              <a:t>El sistema no sustituye al profesional de calidad: le dice a quién mirar primero. Con VPP 0.455, más de la mitad de las alertas son falsas — aceptable para un cribado, no para una decisión automática.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10578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5F7F"/>
                </a:solidFill>
                <a:latin typeface="Calibri"/>
              </a:rPr>
              <a:t>7 ·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7B1522"/>
                </a:solidFill>
                <a:latin typeface="Calibri"/>
              </a:rPr>
              <a:t>Referencias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08176"/>
            <a:ext cx="1371600" cy="3175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5727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268"/>
                </a:solidFill>
                <a:latin typeface="Calibri"/>
              </a:rPr>
              <a:t>El artículo completo cita 34 fuentes. Estas son las que sostienen las decisiones de diseño.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MIA-10 Procesamiento del Lenguaje Natural · Carlos Pérez Pérez · UNI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76127" y="6473952"/>
            <a:ext cx="548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A6268"/>
                </a:solidFill>
                <a:latin typeface="Calibri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97510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97510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Johnson, A. et al. MIMIC-IV-Note: deidentified free-text clinical notes v2.2. PhysioNet.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7744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237744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Alsentzer, E. et al. Publicly Available Clinical BERT Embeddings. Clinical NLP Workshop, 2019.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7977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277977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Lee, J. et al. BioBERT: a pre-trained biomedical language representation model. Bioinformatics, 2020.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18211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18211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Li, Y. et al. Clinical-Longformer and Clinical-BigBird: Transformers for long clinical sequences. 2022.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58444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[5]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8" y="358444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Ratner, A. et al. Snorkel: rapid training data creation with weak supervision. VLDB, 2017.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986784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3986784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Geirhos, R. et al. Shortcut learning in deep neural networks. Nature Machine Intelligence, 2020.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389120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[7]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4389120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Zech, J. et al. Variable generalization performance of a deep learning model to detect pneumonia. PLOS Medicine, 2018.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91456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[8]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4791456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Byrt, T., Bishop, J., Carlin, J. Bias, prevalence and kappa. Journal of Clinical Epidemiology, 1993.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193792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[9]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5193792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de Vries, E. et al. The incidence and nature of in-hospital adverse events. BMJ Quality &amp; Safety, 2008.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8"/>
            <a:ext cx="320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7B1522"/>
                </a:solidFill>
                <a:latin typeface="Calibri"/>
              </a:rPr>
              <a:t>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5596128"/>
            <a:ext cx="10881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1F2428"/>
                </a:solidFill>
                <a:latin typeface="Calibri"/>
              </a:rPr>
              <a:t>EsSalud. Directiva GG-ESSALUD-2021: registro, notificación y gestión de los ERSP. Anexos 02 y 03.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806440"/>
            <a:ext cx="11057839" cy="548640"/>
          </a:xfrm>
          <a:prstGeom prst="rect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5943600"/>
            <a:ext cx="11338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E5F7F"/>
                </a:solidFill>
                <a:latin typeface="Calibri"/>
              </a:rPr>
              <a:t>Código, resultados y artículo completo:  github.com/carlosperez100/PLN_SP    ·    carlosperez100.github.io/PLN_SP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92024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De la notificación voluntaria
a la detección sistemática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0" y="3931920"/>
            <a:ext cx="1188720" cy="3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2519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E8C8CC"/>
                </a:solidFill>
                <a:latin typeface="Calibri"/>
              </a:rPr>
              <a:t>El aporte no es una métrica alta: es una métrica en la que se puede confiar.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39496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E0B8BE"/>
                </a:solidFill>
                <a:latin typeface="Calibri"/>
              </a:rPr>
              <a:t>Carlos Pérez Pérez
MIA-10 Procesamiento del Lenguaje Natural · Universidad Nacional de Ingeniería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25</Words>
  <Application>Microsoft Office PowerPoint</Application>
  <PresentationFormat>Panorámica</PresentationFormat>
  <Paragraphs>13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Consolas</vt:lpstr>
      <vt:lpstr>Tema de Office</vt:lpstr>
      <vt:lpstr>Titulo</vt:lpstr>
      <vt:lpstr>Agenda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Titulo</dc:title>
  <dc:creator>Wester Zela</dc:creator>
  <cp:lastModifiedBy>Wester Zela</cp:lastModifiedBy>
  <cp:revision>5</cp:revision>
  <dcterms:created xsi:type="dcterms:W3CDTF">2026-07-30T15:18:56Z</dcterms:created>
  <dcterms:modified xsi:type="dcterms:W3CDTF">2026-07-30T15:32:06Z</dcterms:modified>
</cp:coreProperties>
</file>